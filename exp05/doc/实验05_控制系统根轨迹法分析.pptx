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36fcdadfab4a99" /><Relationship Type="http://schemas.openxmlformats.org/officeDocument/2006/relationships/extended-properties" Target="/docProps/app.xml" Id="Ra01318eabdfb4f97" /><Relationship Type="http://schemas.openxmlformats.org/officeDocument/2006/relationships/officeDocument" Target="/ppt/presentation.xml" Id="Rb46a91c49ea04d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fcc00990d44947"/>
  </p:sldMasterIdLst>
  <p:notesMasterIdLst>
    <p:notesMasterId xmlns:r="http://schemas.openxmlformats.org/officeDocument/2006/relationships" r:id="R40e93ff582374f4e"/>
  </p:notesMasterIdLst>
  <p:sldIdLst>
    <p:sldId xmlns:r="http://schemas.openxmlformats.org/officeDocument/2006/relationships" id="256" r:id="R855e93893791439d"/>
    <p:sldId xmlns:r="http://schemas.openxmlformats.org/officeDocument/2006/relationships" id="257" r:id="Rb67d8b6c14394d60"/>
    <p:sldId xmlns:r="http://schemas.openxmlformats.org/officeDocument/2006/relationships" id="258" r:id="R8ce0da6d31bc44dc"/>
    <p:sldId xmlns:r="http://schemas.openxmlformats.org/officeDocument/2006/relationships" id="259" r:id="Rb87e375f3e2a4b29"/>
    <p:sldId xmlns:r="http://schemas.openxmlformats.org/officeDocument/2006/relationships" id="260" r:id="Rf188335db64c4ea9"/>
    <p:sldId xmlns:r="http://schemas.openxmlformats.org/officeDocument/2006/relationships" id="261" r:id="R112cc375ef9a4842"/>
    <p:sldId xmlns:r="http://schemas.openxmlformats.org/officeDocument/2006/relationships" id="262" r:id="R2cceee0b4bee499d"/>
    <p:sldId xmlns:r="http://schemas.openxmlformats.org/officeDocument/2006/relationships" id="263" r:id="Rcc968f4ae22a4b90"/>
    <p:sldId xmlns:r="http://schemas.openxmlformats.org/officeDocument/2006/relationships" id="264" r:id="R36794ad9b163486b"/>
    <p:sldId xmlns:r="http://schemas.openxmlformats.org/officeDocument/2006/relationships" id="265" r:id="Rbd15c0eac655459f"/>
    <p:sldId xmlns:r="http://schemas.openxmlformats.org/officeDocument/2006/relationships" id="266" r:id="R6dce904bcdb548f7"/>
    <p:sldId xmlns:r="http://schemas.openxmlformats.org/officeDocument/2006/relationships" id="267" r:id="Rd88b293653a246c8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d20940a0564e5f" /><Relationship Type="http://schemas.openxmlformats.org/officeDocument/2006/relationships/slideMaster" Target="/ppt/slideMasters/slideMaster1.xml" Id="R1bfcc00990d44947" /><Relationship Type="http://schemas.openxmlformats.org/officeDocument/2006/relationships/notesMaster" Target="/ppt/notesMasters/notesMaster1.xml" Id="R40e93ff582374f4e" /><Relationship Type="http://schemas.openxmlformats.org/officeDocument/2006/relationships/presProps" Target="/ppt/presProps.xml" Id="Rea54ead3ca494fba" /><Relationship Type="http://schemas.openxmlformats.org/officeDocument/2006/relationships/tableStyles" Target="/ppt/tableStyles.xml" Id="Rf77a9ae888d0452a" /><Relationship Type="http://schemas.openxmlformats.org/officeDocument/2006/relationships/slide" Target="/ppt/slides/slide1.xml" Id="R855e93893791439d" /><Relationship Type="http://schemas.openxmlformats.org/officeDocument/2006/relationships/slide" Target="/ppt/slides/slide2.xml" Id="Rb67d8b6c14394d60" /><Relationship Type="http://schemas.openxmlformats.org/officeDocument/2006/relationships/slide" Target="/ppt/slides/slide3.xml" Id="R8ce0da6d31bc44dc" /><Relationship Type="http://schemas.openxmlformats.org/officeDocument/2006/relationships/slide" Target="/ppt/slides/slide4.xml" Id="Rb87e375f3e2a4b29" /><Relationship Type="http://schemas.openxmlformats.org/officeDocument/2006/relationships/slide" Target="/ppt/slides/slide5.xml" Id="Rf188335db64c4ea9" /><Relationship Type="http://schemas.openxmlformats.org/officeDocument/2006/relationships/slide" Target="/ppt/slides/slide6.xml" Id="R112cc375ef9a4842" /><Relationship Type="http://schemas.openxmlformats.org/officeDocument/2006/relationships/slide" Target="/ppt/slides/slide7.xml" Id="R2cceee0b4bee499d" /><Relationship Type="http://schemas.openxmlformats.org/officeDocument/2006/relationships/slide" Target="/ppt/slides/slide8.xml" Id="Rcc968f4ae22a4b90" /><Relationship Type="http://schemas.openxmlformats.org/officeDocument/2006/relationships/slide" Target="/ppt/slides/slide9.xml" Id="R36794ad9b163486b" /><Relationship Type="http://schemas.openxmlformats.org/officeDocument/2006/relationships/slide" Target="/ppt/slides/slide10.xml" Id="Rbd15c0eac655459f" /><Relationship Type="http://schemas.openxmlformats.org/officeDocument/2006/relationships/slide" Target="/ppt/slides/slide11.xml" Id="R6dce904bcdb548f7" /><Relationship Type="http://schemas.openxmlformats.org/officeDocument/2006/relationships/slide" Target="/ppt/slides/slide12.xml" Id="Rd88b293653a246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0094da832a42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a860e321ba4abe" /><Relationship Type="http://schemas.openxmlformats.org/officeDocument/2006/relationships/notesMaster" Target="/ppt/notesMasters/notesMaster1.xml" Id="R64d681338eff48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4dfd6c5ff64448" /><Relationship Type="http://schemas.openxmlformats.org/officeDocument/2006/relationships/notesMaster" Target="/ppt/notesMasters/notesMaster1.xml" Id="R7451069dd36049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707f269334635" /><Relationship Type="http://schemas.openxmlformats.org/officeDocument/2006/relationships/notesMaster" Target="/ppt/notesMasters/notesMaster1.xml" Id="R39c772f44fee4c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e5b59859804299" /><Relationship Type="http://schemas.openxmlformats.org/officeDocument/2006/relationships/notesMaster" Target="/ppt/notesMasters/notesMaster1.xml" Id="R25f5de24756741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b78ea0e8e34d7a" /><Relationship Type="http://schemas.openxmlformats.org/officeDocument/2006/relationships/notesMaster" Target="/ppt/notesMasters/notesMaster1.xml" Id="R20fd93d9b7d54f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2bebc4bc964bec" /><Relationship Type="http://schemas.openxmlformats.org/officeDocument/2006/relationships/notesMaster" Target="/ppt/notesMasters/notesMaster1.xml" Id="Rf6e72c8f5f404d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a577ccd2324fa3" /><Relationship Type="http://schemas.openxmlformats.org/officeDocument/2006/relationships/notesMaster" Target="/ppt/notesMasters/notesMaster1.xml" Id="Rc1487560025a46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45b77507824245" /><Relationship Type="http://schemas.openxmlformats.org/officeDocument/2006/relationships/notesMaster" Target="/ppt/notesMasters/notesMaster1.xml" Id="Rdb3f9fe0e26248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7271bbfc1e4c35" /><Relationship Type="http://schemas.openxmlformats.org/officeDocument/2006/relationships/notesMaster" Target="/ppt/notesMasters/notesMaster1.xml" Id="Rfb9dad1d038a40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bafdefb82f4d08" /><Relationship Type="http://schemas.openxmlformats.org/officeDocument/2006/relationships/notesMaster" Target="/ppt/notesMasters/notesMaster1.xml" Id="Ra1259624816044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440ffa422e440d" /><Relationship Type="http://schemas.openxmlformats.org/officeDocument/2006/relationships/notesMaster" Target="/ppt/notesMasters/notesMaster1.xml" Id="R8e735bbf045d43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0504159df24fb6" /><Relationship Type="http://schemas.openxmlformats.org/officeDocument/2006/relationships/notesMaster" Target="/ppt/notesMasters/notesMaster1.xml" Id="R1799a010906441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E:\上课\自动控制原理\RichardC.DorfRobertH.Bishop-ModernControlSystems13thEd.-Pearson2017.pdf，PDF第449—510页</a:t>
            </a:r>
          </a:p>
          <a:p xmlns:a="http://schemas.openxmlformats.org/drawingml/2006/main">
            <a:r>
              <a:t>- E:\上课\自动控制原理\现代控制系统 第十3版_15244176.pdf，第7章</a:t>
            </a:r>
          </a:p>
          <a:p xmlns:a="http://schemas.openxmlformats.org/drawingml/2006/main">
            <a:r>
              <a:t>- E:\上课\自动控制原理\自动控制原理（双语）教学大纲（2024版）-人工智能.docx，实验5</a:t>
            </a:r>
          </a:p>
          <a:p xmlns:a="http://schemas.openxmlformats.org/drawingml/2006/main">
            <a:r>
              <a:t>- E:\上课\自动控制原理\《现代控制系统》中科大课堂配套PPT.pdf，根轨迹法相关内容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本页属于实验五 · 2学时，第1页。命令以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E:\上课\自动控制原理\RichardC.DorfRobertH.Bishop-ModernControlSystems13thEd.-Pearson2017.pdf，PDF第449—510页</a:t>
            </a:r>
          </a:p>
          <a:p xmlns:a="http://schemas.openxmlformats.org/drawingml/2006/main">
            <a:r>
              <a:t>- E:\上课\自动控制原理\现代控制系统 第十3版_15244176.pdf，第7章</a:t>
            </a:r>
          </a:p>
          <a:p xmlns:a="http://schemas.openxmlformats.org/drawingml/2006/main">
            <a:r>
              <a:t>- E:\上课\自动控制原理\自动控制原理（双语）教学大纲（2024版）-人工智能.docx，实验5</a:t>
            </a:r>
          </a:p>
          <a:p xmlns:a="http://schemas.openxmlformats.org/drawingml/2006/main">
            <a:r>
              <a:t>- E:\上课\自动控制原理\《现代控制系统》中科大课堂配套PPT.pdf，根轨迹法相关内容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本页属于实验五 · 2学时，第2页。命令以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E:\上课\自动控制原理\RichardC.DorfRobertH.Bishop-ModernControlSystems13thEd.-Pearson2017.pdf，PDF第449—510页</a:t>
            </a:r>
          </a:p>
          <a:p xmlns:a="http://schemas.openxmlformats.org/drawingml/2006/main">
            <a:r>
              <a:t>- E:\上课\自动控制原理\现代控制系统 第十3版_15244176.pdf，第7章</a:t>
            </a:r>
          </a:p>
          <a:p xmlns:a="http://schemas.openxmlformats.org/drawingml/2006/main">
            <a:r>
              <a:t>- E:\上课\自动控制原理\自动控制原理（双语）教学大纲（2024版）-人工智能.docx，实验5</a:t>
            </a:r>
          </a:p>
          <a:p xmlns:a="http://schemas.openxmlformats.org/drawingml/2006/main">
            <a:r>
              <a:t>- E:\上课\自动控制原理\《现代控制系统》中科大课堂配套PPT.pdf，根轨迹法相关内容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本页属于实验五 · 2学时，第3页。命令以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E:\上课\自动控制原理\RichardC.DorfRobertH.Bishop-ModernControlSystems13thEd.-Pearson2017.pdf，PDF第449—510页</a:t>
            </a:r>
          </a:p>
          <a:p xmlns:a="http://schemas.openxmlformats.org/drawingml/2006/main">
            <a:r>
              <a:t>- E:\上课\自动控制原理\现代控制系统 第十3版_15244176.pdf，第7章</a:t>
            </a:r>
          </a:p>
          <a:p xmlns:a="http://schemas.openxmlformats.org/drawingml/2006/main">
            <a:r>
              <a:t>- E:\上课\自动控制原理\自动控制原理（双语）教学大纲（2024版）-人工智能.docx，实验5</a:t>
            </a:r>
          </a:p>
          <a:p xmlns:a="http://schemas.openxmlformats.org/drawingml/2006/main">
            <a:r>
              <a:t>- E:\上课\自动控制原理\《现代控制系统》中科大课堂配套PPT.pdf，根轨迹法相关内容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本页属于实验五 · 2学时，第4页。命令以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E:\上课\自动控制原理\RichardC.DorfRobertH.Bishop-ModernControlSystems13thEd.-Pearson2017.pdf，PDF第449—510页</a:t>
            </a:r>
          </a:p>
          <a:p xmlns:a="http://schemas.openxmlformats.org/drawingml/2006/main">
            <a:r>
              <a:t>- E:\上课\自动控制原理\现代控制系统 第十3版_15244176.pdf，第7章</a:t>
            </a:r>
          </a:p>
          <a:p xmlns:a="http://schemas.openxmlformats.org/drawingml/2006/main">
            <a:r>
              <a:t>- E:\上课\自动控制原理\自动控制原理（双语）教学大纲（2024版）-人工智能.docx，实验5</a:t>
            </a:r>
          </a:p>
          <a:p xmlns:a="http://schemas.openxmlformats.org/drawingml/2006/main">
            <a:r>
              <a:t>- E:\上课\自动控制原理\《现代控制系统》中科大课堂配套PPT.pdf，根轨迹法相关内容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本页属于实验五 · 2学时，第5页。命令以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E:\上课\自动控制原理\RichardC.DorfRobertH.Bishop-ModernControlSystems13thEd.-Pearson2017.pdf，PDF第449—510页</a:t>
            </a:r>
          </a:p>
          <a:p xmlns:a="http://schemas.openxmlformats.org/drawingml/2006/main">
            <a:r>
              <a:t>- E:\上课\自动控制原理\现代控制系统 第十3版_15244176.pdf，第7章</a:t>
            </a:r>
          </a:p>
          <a:p xmlns:a="http://schemas.openxmlformats.org/drawingml/2006/main">
            <a:r>
              <a:t>- E:\上课\自动控制原理\自动控制原理（双语）教学大纲（2024版）-人工智能.docx，实验5</a:t>
            </a:r>
          </a:p>
          <a:p xmlns:a="http://schemas.openxmlformats.org/drawingml/2006/main">
            <a:r>
              <a:t>- E:\上课\自动控制原理\《现代控制系统》中科大课堂配套PPT.pdf，根轨迹法相关内容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本页属于实验五 · 2学时，第6页。命令以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E:\上课\自动控制原理\RichardC.DorfRobertH.Bishop-ModernControlSystems13thEd.-Pearson2017.pdf，PDF第449—510页</a:t>
            </a:r>
          </a:p>
          <a:p xmlns:a="http://schemas.openxmlformats.org/drawingml/2006/main">
            <a:r>
              <a:t>- E:\上课\自动控制原理\现代控制系统 第十3版_15244176.pdf，第7章</a:t>
            </a:r>
          </a:p>
          <a:p xmlns:a="http://schemas.openxmlformats.org/drawingml/2006/main">
            <a:r>
              <a:t>- E:\上课\自动控制原理\自动控制原理（双语）教学大纲（2024版）-人工智能.docx，实验5</a:t>
            </a:r>
          </a:p>
          <a:p xmlns:a="http://schemas.openxmlformats.org/drawingml/2006/main">
            <a:r>
              <a:t>- E:\上课\自动控制原理\《现代控制系统》中科大课堂配套PPT.pdf，根轨迹法相关内容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本页属于实验五 · 2学时，第7页。命令以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E:\上课\自动控制原理\RichardC.DorfRobertH.Bishop-ModernControlSystems13thEd.-Pearson2017.pdf，PDF第449—510页</a:t>
            </a:r>
          </a:p>
          <a:p xmlns:a="http://schemas.openxmlformats.org/drawingml/2006/main">
            <a:r>
              <a:t>- E:\上课\自动控制原理\现代控制系统 第十3版_15244176.pdf，第7章</a:t>
            </a:r>
          </a:p>
          <a:p xmlns:a="http://schemas.openxmlformats.org/drawingml/2006/main">
            <a:r>
              <a:t>- E:\上课\自动控制原理\自动控制原理（双语）教学大纲（2024版）-人工智能.docx，实验5</a:t>
            </a:r>
          </a:p>
          <a:p xmlns:a="http://schemas.openxmlformats.org/drawingml/2006/main">
            <a:r>
              <a:t>- E:\上课\自动控制原理\《现代控制系统》中科大课堂配套PPT.pdf，根轨迹法相关内容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本页属于实验五 · 2学时，第8页。命令以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E:\上课\自动控制原理\RichardC.DorfRobertH.Bishop-ModernControlSystems13thEd.-Pearson2017.pdf，PDF第449—510页</a:t>
            </a:r>
          </a:p>
          <a:p xmlns:a="http://schemas.openxmlformats.org/drawingml/2006/main">
            <a:r>
              <a:t>- E:\上课\自动控制原理\现代控制系统 第十3版_15244176.pdf，第7章</a:t>
            </a:r>
          </a:p>
          <a:p xmlns:a="http://schemas.openxmlformats.org/drawingml/2006/main">
            <a:r>
              <a:t>- E:\上课\自动控制原理\自动控制原理（双语）教学大纲（2024版）-人工智能.docx，实验5</a:t>
            </a:r>
          </a:p>
          <a:p xmlns:a="http://schemas.openxmlformats.org/drawingml/2006/main">
            <a:r>
              <a:t>- E:\上课\自动控制原理\《现代控制系统》中科大课堂配套PPT.pdf，根轨迹法相关内容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本页属于实验五 · 2学时，第9页。命令以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E:\上课\自动控制原理\RichardC.DorfRobertH.Bishop-ModernControlSystems13thEd.-Pearson2017.pdf，PDF第449—510页</a:t>
            </a:r>
          </a:p>
          <a:p xmlns:a="http://schemas.openxmlformats.org/drawingml/2006/main">
            <a:r>
              <a:t>- E:\上课\自动控制原理\现代控制系统 第十3版_15244176.pdf，第7章</a:t>
            </a:r>
          </a:p>
          <a:p xmlns:a="http://schemas.openxmlformats.org/drawingml/2006/main">
            <a:r>
              <a:t>- E:\上课\自动控制原理\自动控制原理（双语）教学大纲（2024版）-人工智能.docx，实验5</a:t>
            </a:r>
          </a:p>
          <a:p xmlns:a="http://schemas.openxmlformats.org/drawingml/2006/main">
            <a:r>
              <a:t>- E:\上课\自动控制原理\《现代控制系统》中科大课堂配套PPT.pdf，根轨迹法相关内容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本页属于实验五 · 2学时，第10页。命令以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E:\上课\自动控制原理\RichardC.DorfRobertH.Bishop-ModernControlSystems13thEd.-Pearson2017.pdf，PDF第449—510页</a:t>
            </a:r>
          </a:p>
          <a:p xmlns:a="http://schemas.openxmlformats.org/drawingml/2006/main">
            <a:r>
              <a:t>- E:\上课\自动控制原理\现代控制系统 第十3版_15244176.pdf，第7章</a:t>
            </a:r>
          </a:p>
          <a:p xmlns:a="http://schemas.openxmlformats.org/drawingml/2006/main">
            <a:r>
              <a:t>- E:\上课\自动控制原理\自动控制原理（双语）教学大纲（2024版）-人工智能.docx，实验5</a:t>
            </a:r>
          </a:p>
          <a:p xmlns:a="http://schemas.openxmlformats.org/drawingml/2006/main">
            <a:r>
              <a:t>- E:\上课\自动控制原理\《现代控制系统》中科大课堂配套PPT.pdf，根轨迹法相关内容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本页属于实验五 · 2学时，第11页。命令以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实际运行截图。MATLAB R2025b。数据来源：本实验原有模型。</a:t>
            </a:r>
          </a:p>
          <a:p xmlns:a="http://schemas.openxmlformats.org/drawingml/2006/main">
            <a:r>
              <a:t>图形：F:\codex\slides_generation\tmp\labs_formula_20261022\assets\lab05.fig</a:t>
            </a:r>
          </a:p>
          <a:p xmlns:a="http://schemas.openxmlformats.org/drawingml/2006/main">
            <a:r>
              <a:t>复现：render_lab_assets.m 和 show_lab_figures.m。</a:t>
            </a:r>
          </a:p>
          <a:p xmlns:a="http://schemas.openxmlformats.org/drawingml/2006/main">
            <a:r>
              <a:t>实验08示例控制器：C(s)=60(s+2)/(s+12)，用于对照，并非唯一解。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4558a2350447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1beac3f2754892" /><Relationship Type="http://schemas.openxmlformats.org/officeDocument/2006/relationships/slideLayout" Target="/ppt/slideLayouts/slideLayout1.xml" Id="Rc523bd02f79546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23bd02f79546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a3e0c0426455d" /><Relationship Type="http://schemas.openxmlformats.org/officeDocument/2006/relationships/notesSlide" Target="/ppt/notesSlides/notesSlide1.xml" Id="R93add5d4e11a49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e8c5efed04786" /><Relationship Type="http://schemas.openxmlformats.org/officeDocument/2006/relationships/notesSlide" Target="/ppt/notesSlides/notesSlide2.xml" Id="R170c8693151c4d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0dd9011c24d58" /><Relationship Type="http://schemas.openxmlformats.org/officeDocument/2006/relationships/image" Target="/ppt/media/image.png" Id="R5035ea2fbec94eed" /><Relationship Type="http://schemas.openxmlformats.org/officeDocument/2006/relationships/notesSlide" Target="/ppt/notesSlides/notesSlide3.xml" Id="R434c8c9d9bd24a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6f7e53ad54a78" /><Relationship Type="http://schemas.openxmlformats.org/officeDocument/2006/relationships/image" Target="/ppt/media/image2.png" Id="R66cea616f9c3449f" /><Relationship Type="http://schemas.openxmlformats.org/officeDocument/2006/relationships/notesSlide" Target="/ppt/notesSlides/notesSlide4.xml" Id="Rcc816e11c5a3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65abaffe045c1" /><Relationship Type="http://schemas.openxmlformats.org/officeDocument/2006/relationships/notesSlide" Target="/ppt/notesSlides/notesSlide5.xml" Id="R7133b3c1f8a54f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32859554e4cba" /><Relationship Type="http://schemas.openxmlformats.org/officeDocument/2006/relationships/notesSlide" Target="/ppt/notesSlides/notesSlide6.xml" Id="R480f0134f08948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fc72b16e54157" /><Relationship Type="http://schemas.openxmlformats.org/officeDocument/2006/relationships/notesSlide" Target="/ppt/notesSlides/notesSlide7.xml" Id="R1b0f12ebf08740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fba7a07694be1" /><Relationship Type="http://schemas.openxmlformats.org/officeDocument/2006/relationships/notesSlide" Target="/ppt/notesSlides/notesSlide8.xml" Id="Rdbffb8a8c24542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252afe11c4f7f" /><Relationship Type="http://schemas.openxmlformats.org/officeDocument/2006/relationships/notesSlide" Target="/ppt/notesSlides/notesSlide9.xml" Id="R724f8d14fe6f49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115b9bb9d4029" /><Relationship Type="http://schemas.openxmlformats.org/officeDocument/2006/relationships/notesSlide" Target="/ppt/notesSlides/notesSlide10.xml" Id="R0c56276908f34b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d2d6a675446a0" /><Relationship Type="http://schemas.openxmlformats.org/officeDocument/2006/relationships/notesSlide" Target="/ppt/notesSlides/notesSlide11.xml" Id="R1357479692b84c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a695c42ff4e38" /><Relationship Type="http://schemas.openxmlformats.org/officeDocument/2006/relationships/image" Target="/ppt/media/image.jpeg" Id="Rfe05b8553fc84466" /><Relationship Type="http://schemas.openxmlformats.org/officeDocument/2006/relationships/notesSlide" Target="/ppt/notesSlides/notesSlide12.xml" Id="Rd7e621aabdb148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d-band">
            <a:extLst xmlns:a="http://schemas.openxmlformats.org/drawingml/2006/main">
              <a:ext uri="{FF2B5EF4-FFF2-40B4-BE49-F238E27FC236}">
                <a16:creationId xmlns:a16="http://schemas.microsoft.com/office/drawing/2014/main" id="{A4E0CA20-92FE-4A8B-9A6C-83801661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9F71EED-B54F-42EA-8521-B576F53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B8ED9D1-230E-4E8D-993B-7AB67DD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控制系统根轨迹法分析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894FA42-3F20-45F5-8197-AE50BCE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从增益变化轨迹到闭环性能选择</a:t>
            </a:r>
          </a:p>
        </p:txBody>
      </p:sp>
      <p:sp>
        <p:nvSpPr>
          <p:cNvPr id="6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475EEFCF-5DD1-439F-88F7-6C1D707D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638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本次实验用根轨迹连接结构与性能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按规则预测根轨迹的起点、终点和渐近线。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用MATLAB验证手工草图并读取指定点增益。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由闭环极点位置评价稳定性和瞬态性能。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/>
            </a:r>
          </a:p>
        </p:txBody>
      </p:sp>
      <p:sp>
        <p:nvSpPr>
          <p:cNvPr id="14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9331C126-BAE0-4036-8F3F-DE75CA4C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实验对象与特征方程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三条分支从0、−2、−4出发。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没有有限零点，分支最终趋于无穷远。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先手工判断实轴区段与渐近线。</a:t>
            </a:r>
          </a:p>
        </p:txBody>
      </p:sp>
      <p:sp>
        <p:nvSpPr>
          <p:cNvPr id="14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A62DC771-F23A-433D-AB3A-5A3E43DC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08C48-FCED-4904-BA1F-D8AE63EA64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5ea2fbec94eed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稳定边界可以由根轨迹和劳斯表互证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K=48时一对根到达虚轴。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根轨迹给出极点随K连续变化的全貌。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选择K还要满足阻尼和响应速度要求。</a:t>
            </a:r>
          </a:p>
        </p:txBody>
      </p:sp>
      <p:sp>
        <p:nvSpPr>
          <p:cNvPr id="14" name="page-number-4">
            <a:extLst xmlns:a="http://schemas.openxmlformats.org/drawingml/2006/main">
              <a:ext uri="{FF2B5EF4-FFF2-40B4-BE49-F238E27FC236}">
                <a16:creationId xmlns:a16="http://schemas.microsoft.com/office/drawing/2014/main" id="{BFE15E6D-21E7-495C-90CB-A758856F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7B869-253D-41BD-8CBB-E18B842BD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ea616f9c3449f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B41CC25-ABFD-40D8-969C-942F00D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EF5AC451-5D5B-452F-83DC-C6E1BE6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DF79E-4C92-4FDF-9B6E-305E406B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根轨迹入口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9E60EF-7B51-4404-B604-4EED0EDA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7E7D887B-83E0-4A27-B21D-BD8316C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810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2D6B95FB-606B-49A3-83E6-5A75163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9429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 = tf('s');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L0 = 1/(s*(s+2)*(s+4));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rlocus(L0);  sgrid(.5,[]);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[K,p] = rlocfind(L0);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T = feedback(K*L0,1);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figure; step(T)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090A79F3-B37F-4607-8593-E323580C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D59D8AC4-EF57-4E3D-9494-C64DD15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先设置坐标范围再读图。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8FC55AF8-6649-435F-971C-9BF080D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04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6FF41B91-A8D9-4429-BC14-2D8A4F3D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9818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记录所选点、K和闭环极点。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5A7EB87B-9723-4BF9-99DF-CCEF1DD0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628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8F8324C4-03C5-4322-AF68-B0DE37B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342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用step验证读图结论。</a:t>
            </a:r>
          </a:p>
        </p:txBody>
      </p:sp>
      <p:sp>
        <p:nvSpPr>
          <p:cNvPr id="14" name="page-number-5">
            <a:extLst xmlns:a="http://schemas.openxmlformats.org/drawingml/2006/main">
              <a:ext uri="{FF2B5EF4-FFF2-40B4-BE49-F238E27FC236}">
                <a16:creationId xmlns:a16="http://schemas.microsoft.com/office/drawing/2014/main" id="{099FE77D-703B-4642-AFFF-C3750498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2422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任务A：手工绘制关键结构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标出开环极点、实轴根轨迹区段和分支数。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计算渐近线交点与角度。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求分离点候选并判断是否位于根轨迹。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估计虚轴交点并给出稳定增益范围。</a:t>
            </a:r>
          </a:p>
        </p:txBody>
      </p:sp>
      <p:sp>
        <p:nvSpPr>
          <p:cNvPr id="14" name="page-number-6">
            <a:extLst xmlns:a="http://schemas.openxmlformats.org/drawingml/2006/main">
              <a:ext uri="{FF2B5EF4-FFF2-40B4-BE49-F238E27FC236}">
                <a16:creationId xmlns:a16="http://schemas.microsoft.com/office/drawing/2014/main" id="{52DDD4AE-7C00-4D5B-B1B9-F0425F8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任务B：用软件验证草图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绘制rlocus并叠加阻尼比ζ=0.5网格。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比较软件图与手工关键点。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用rlocfind选取ζ约为0.5的一组闭环极点。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记录K、极点、预测超调和调节时间。</a:t>
            </a:r>
          </a:p>
        </p:txBody>
      </p:sp>
      <p:sp>
        <p:nvSpPr>
          <p:cNvPr id="14" name="page-number-7">
            <a:extLst xmlns:a="http://schemas.openxmlformats.org/drawingml/2006/main">
              <a:ext uri="{FF2B5EF4-FFF2-40B4-BE49-F238E27FC236}">
                <a16:creationId xmlns:a16="http://schemas.microsoft.com/office/drawing/2014/main" id="{AB636F9D-AD9D-4AD8-8A36-A300E7C5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任务C：由根轨迹选择增益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至少测试K=5、20、40、50。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比较稳定性、超调量和调节时间。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解释为何K增大后系统最终越过稳定边界。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选出一组综合性能较好的K并说明依据。</a:t>
            </a:r>
          </a:p>
        </p:txBody>
      </p:sp>
      <p:sp>
        <p:nvSpPr>
          <p:cNvPr id="14" name="page-number-8">
            <a:extLst xmlns:a="http://schemas.openxmlformats.org/drawingml/2006/main">
              <a:ext uri="{FF2B5EF4-FFF2-40B4-BE49-F238E27FC236}">
                <a16:creationId xmlns:a16="http://schemas.microsoft.com/office/drawing/2014/main" id="{9684ECEB-8D79-46CA-B86B-592BCFA7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结果记录要覆盖“图—点—响应”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手工根轨迹草图及关键计算。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MATLAB根轨迹与阻尼网格。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所选设计点、增益和闭环极点。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多组K的阶跃响应和最终选择。</a:t>
            </a:r>
          </a:p>
        </p:txBody>
      </p:sp>
      <p:sp>
        <p:nvSpPr>
          <p:cNvPr id="14" name="page-number-9">
            <a:extLst xmlns:a="http://schemas.openxmlformats.org/drawingml/2006/main">
              <a:ext uri="{FF2B5EF4-FFF2-40B4-BE49-F238E27FC236}">
                <a16:creationId xmlns:a16="http://schemas.microsoft.com/office/drawing/2014/main" id="{8AD8CF5D-2120-4E95-B9C1-4C07A023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72466BC-2F2E-433D-AA86-9F1C2493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42422796-8B11-44D8-B643-C00047F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15088-12B4-4916-B54C-3111312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实验报告应包含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92DF72-C987-4486-8872-7ECFF02C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98FEB63-BC0E-4785-AA3A-1FE16883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C3816F62-C744-469B-9A1B-324BA4D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根轨迹绘制规则的应用过程。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EF15B4B2-72E6-4AAF-A4DD-9D489D3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DBF1A82-8881-43B8-AC4F-3A19175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手工结果与软件图的差异。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D0EF406E-3B9B-4CCF-B19F-21283BC8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C67FAB3-65E8-40F8-A38E-C1B2D48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参数选择、闭环极点和性能指标。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672BB070-3A0F-43B1-9D46-966528F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7E79AFB-202E-4A09-882B-236ED98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稳定边界及设计结论。</a:t>
            </a:r>
          </a:p>
        </p:txBody>
      </p:sp>
      <p:sp>
        <p:nvSpPr>
          <p:cNvPr id="14" name="page-number-10">
            <a:extLst xmlns:a="http://schemas.openxmlformats.org/drawingml/2006/main">
              <a:ext uri="{FF2B5EF4-FFF2-40B4-BE49-F238E27FC236}">
                <a16:creationId xmlns:a16="http://schemas.microsoft.com/office/drawing/2014/main" id="{6046B813-35CE-42E8-8475-A0B968AD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5280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离开实验室前检查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根轨迹为什么从开环极点出发？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读到相同阻尼比是否意味着相同调节时间？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K=48附近的根轨迹和时域响应如何对应？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提交草图、脚本、响应图和设计说明。</a:t>
            </a:r>
          </a:p>
        </p:txBody>
      </p:sp>
      <p:sp>
        <p:nvSpPr>
          <p:cNvPr id="14" name="page-number-11">
            <a:extLst xmlns:a="http://schemas.openxmlformats.org/drawingml/2006/main">
              <a:ext uri="{FF2B5EF4-FFF2-40B4-BE49-F238E27FC236}">
                <a16:creationId xmlns:a16="http://schemas.microsoft.com/office/drawing/2014/main" id="{C3BE7753-BCEB-41EB-BE1D-C26A7214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A907ACEE-B7D9-4A3F-BF69-CCC7C484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ED376F-59F2-401E-80D5-48D555E6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运行结果参考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8FDF6A-3A0F-4B06-B6B8-D84D648F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56837-8190-4CA4-9433-D2B30AFE97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5b8553fc84466"/>
          <a:stretch xmlns:a="http://schemas.openxmlformats.org/drawingml/2006/main"/>
        </p:blipFill>
        <p:spPr>
          <a:xfrm xmlns:a="http://schemas.openxmlformats.org/drawingml/2006/main">
            <a:off x="1077331" y="1952625"/>
            <a:ext cx="9275338" cy="566737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273F46AD-9F63-402F-A188-765E23A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叉号为开环极点，红圈标出增益48时的虚轴交点。</a:t>
            </a:r>
          </a:p>
        </p:txBody>
      </p:sp>
      <p:sp>
        <p:nvSpPr>
          <p:cNvPr id="6" name="page-number-12">
            <a:extLst xmlns:a="http://schemas.openxmlformats.org/drawingml/2006/main">
              <a:ext uri="{FF2B5EF4-FFF2-40B4-BE49-F238E27FC236}">
                <a16:creationId xmlns:a16="http://schemas.microsoft.com/office/drawing/2014/main" id="{4A406002-0EF9-4876-8AE4-EB57E4EA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67419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2026-10-22T12:36:41.4000000Z</dcterms:created>
  <dcterms:modified xsi:type="dcterms:W3CDTF">2026-10-22T12:36:41.4000000Z</dcterms:modified>
</coreProperties>
</file>