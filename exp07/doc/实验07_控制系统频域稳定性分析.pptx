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be69c9a0dd411b" /><Relationship Type="http://schemas.openxmlformats.org/officeDocument/2006/relationships/extended-properties" Target="/docProps/app.xml" Id="R4ae9579e387d4b68" /><Relationship Type="http://schemas.openxmlformats.org/officeDocument/2006/relationships/officeDocument" Target="/ppt/presentation.xml" Id="Rba7a322a1a1647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9531d36cef4756"/>
  </p:sldMasterIdLst>
  <p:notesMasterIdLst>
    <p:notesMasterId xmlns:r="http://schemas.openxmlformats.org/officeDocument/2006/relationships" r:id="R9ee04829331b4617"/>
  </p:notesMasterIdLst>
  <p:sldIdLst>
    <p:sldId xmlns:r="http://schemas.openxmlformats.org/officeDocument/2006/relationships" id="256" r:id="R93db3f4537d44d15"/>
    <p:sldId xmlns:r="http://schemas.openxmlformats.org/officeDocument/2006/relationships" id="257" r:id="Ra5aa7674f6d342dc"/>
    <p:sldId xmlns:r="http://schemas.openxmlformats.org/officeDocument/2006/relationships" id="258" r:id="R0ee4e8c7281b4a3f"/>
    <p:sldId xmlns:r="http://schemas.openxmlformats.org/officeDocument/2006/relationships" id="259" r:id="Rb4b3c9275a0247d2"/>
    <p:sldId xmlns:r="http://schemas.openxmlformats.org/officeDocument/2006/relationships" id="260" r:id="Rbb154b89fd2d4531"/>
    <p:sldId xmlns:r="http://schemas.openxmlformats.org/officeDocument/2006/relationships" id="261" r:id="Rd3c2dee2f28a482c"/>
    <p:sldId xmlns:r="http://schemas.openxmlformats.org/officeDocument/2006/relationships" id="262" r:id="R8b94e99444fa4b88"/>
    <p:sldId xmlns:r="http://schemas.openxmlformats.org/officeDocument/2006/relationships" id="263" r:id="Rba51c9c0002c4afd"/>
    <p:sldId xmlns:r="http://schemas.openxmlformats.org/officeDocument/2006/relationships" id="264" r:id="Rd48aa85290944461"/>
    <p:sldId xmlns:r="http://schemas.openxmlformats.org/officeDocument/2006/relationships" id="265" r:id="Rcb802211b5614ccb"/>
    <p:sldId xmlns:r="http://schemas.openxmlformats.org/officeDocument/2006/relationships" id="266" r:id="Raaed27b367de4c52"/>
    <p:sldId xmlns:r="http://schemas.openxmlformats.org/officeDocument/2006/relationships" id="267" r:id="Rae921682514542fd"/>
  </p:sldIdLst>
  <p:sldSz cx="1143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2aefea1ef34785" /><Relationship Type="http://schemas.openxmlformats.org/officeDocument/2006/relationships/slideMaster" Target="/ppt/slideMasters/slideMaster1.xml" Id="Ra89531d36cef4756" /><Relationship Type="http://schemas.openxmlformats.org/officeDocument/2006/relationships/notesMaster" Target="/ppt/notesMasters/notesMaster1.xml" Id="R9ee04829331b4617" /><Relationship Type="http://schemas.openxmlformats.org/officeDocument/2006/relationships/presProps" Target="/ppt/presProps.xml" Id="R491afc4d4b51488e" /><Relationship Type="http://schemas.openxmlformats.org/officeDocument/2006/relationships/tableStyles" Target="/ppt/tableStyles.xml" Id="R98f92a21984e41bd" /><Relationship Type="http://schemas.openxmlformats.org/officeDocument/2006/relationships/slide" Target="/ppt/slides/slide1.xml" Id="R93db3f4537d44d15" /><Relationship Type="http://schemas.openxmlformats.org/officeDocument/2006/relationships/slide" Target="/ppt/slides/slide2.xml" Id="Ra5aa7674f6d342dc" /><Relationship Type="http://schemas.openxmlformats.org/officeDocument/2006/relationships/slide" Target="/ppt/slides/slide3.xml" Id="R0ee4e8c7281b4a3f" /><Relationship Type="http://schemas.openxmlformats.org/officeDocument/2006/relationships/slide" Target="/ppt/slides/slide4.xml" Id="Rb4b3c9275a0247d2" /><Relationship Type="http://schemas.openxmlformats.org/officeDocument/2006/relationships/slide" Target="/ppt/slides/slide5.xml" Id="Rbb154b89fd2d4531" /><Relationship Type="http://schemas.openxmlformats.org/officeDocument/2006/relationships/slide" Target="/ppt/slides/slide6.xml" Id="Rd3c2dee2f28a482c" /><Relationship Type="http://schemas.openxmlformats.org/officeDocument/2006/relationships/slide" Target="/ppt/slides/slide7.xml" Id="R8b94e99444fa4b88" /><Relationship Type="http://schemas.openxmlformats.org/officeDocument/2006/relationships/slide" Target="/ppt/slides/slide8.xml" Id="Rba51c9c0002c4afd" /><Relationship Type="http://schemas.openxmlformats.org/officeDocument/2006/relationships/slide" Target="/ppt/slides/slide9.xml" Id="Rd48aa85290944461" /><Relationship Type="http://schemas.openxmlformats.org/officeDocument/2006/relationships/slide" Target="/ppt/slides/slide10.xml" Id="Rcb802211b5614ccb" /><Relationship Type="http://schemas.openxmlformats.org/officeDocument/2006/relationships/slide" Target="/ppt/slides/slide11.xml" Id="Raaed27b367de4c52" /><Relationship Type="http://schemas.openxmlformats.org/officeDocument/2006/relationships/slide" Target="/ppt/slides/slide12.xml" Id="Rae921682514542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6052c488d94f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e9f2ebc82b4957" /><Relationship Type="http://schemas.openxmlformats.org/officeDocument/2006/relationships/notesMaster" Target="/ppt/notesMasters/notesMaster1.xml" Id="Rb2c08ea5492344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301114ed5747a3" /><Relationship Type="http://schemas.openxmlformats.org/officeDocument/2006/relationships/notesMaster" Target="/ppt/notesMasters/notesMaster1.xml" Id="R430ccbfe788e47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ef87c5d67649cc" /><Relationship Type="http://schemas.openxmlformats.org/officeDocument/2006/relationships/notesMaster" Target="/ppt/notesMasters/notesMaster1.xml" Id="Rfb59c52cb83a46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26f300a0f342b7" /><Relationship Type="http://schemas.openxmlformats.org/officeDocument/2006/relationships/notesMaster" Target="/ppt/notesMasters/notesMaster1.xml" Id="Recebdf4548ef45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b2c8810a7e4718" /><Relationship Type="http://schemas.openxmlformats.org/officeDocument/2006/relationships/notesMaster" Target="/ppt/notesMasters/notesMaster1.xml" Id="R90a6b8eec29642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bf80dc30924302" /><Relationship Type="http://schemas.openxmlformats.org/officeDocument/2006/relationships/notesMaster" Target="/ppt/notesMasters/notesMaster1.xml" Id="R3417614a1f5b46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0be4ff585a4cde" /><Relationship Type="http://schemas.openxmlformats.org/officeDocument/2006/relationships/notesMaster" Target="/ppt/notesMasters/notesMaster1.xml" Id="R452c86ea5c6645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9a5724c0534c37" /><Relationship Type="http://schemas.openxmlformats.org/officeDocument/2006/relationships/notesMaster" Target="/ppt/notesMasters/notesMaster1.xml" Id="R1839caf101c54c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226979c6ad4285" /><Relationship Type="http://schemas.openxmlformats.org/officeDocument/2006/relationships/notesMaster" Target="/ppt/notesMasters/notesMaster1.xml" Id="R91ea99d0456145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3dd64eb94c4cd0" /><Relationship Type="http://schemas.openxmlformats.org/officeDocument/2006/relationships/notesMaster" Target="/ppt/notesMasters/notesMaster1.xml" Id="R1d9a52ad95e942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f391a7b9214dff" /><Relationship Type="http://schemas.openxmlformats.org/officeDocument/2006/relationships/notesMaster" Target="/ppt/notesMasters/notesMaster1.xml" Id="R0542d96abe524a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1ff91968654bc8" /><Relationship Type="http://schemas.openxmlformats.org/officeDocument/2006/relationships/notesMaster" Target="/ppt/notesMasters/notesMaster1.xml" Id="Rc5905e489ad649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E:\上课\自动控制原理\RichardC.DorfRobertH.Bishop-ModernControlSystems13thEd.-Pearson2017.pdf，PDF第625—688页</a:t>
            </a:r>
          </a:p>
          <a:p xmlns:a="http://schemas.openxmlformats.org/drawingml/2006/main">
            <a:r>
              <a:t>- E:\上课\自动控制原理\现代控制系统 第十3版_15244176.pdf，第9章</a:t>
            </a:r>
          </a:p>
          <a:p xmlns:a="http://schemas.openxmlformats.org/drawingml/2006/main">
            <a:r>
              <a:t>- E:\上课\自动控制原理\自动控制原理（双语）教学大纲（2024版）-人工智能.docx，实验7</a:t>
            </a:r>
          </a:p>
          <a:p xmlns:a="http://schemas.openxmlformats.org/drawingml/2006/main">
            <a:r>
              <a:t>- E:\上课\自动控制原理\《现代控制系统》中科大课堂配套PPT.pdf，频域稳定性相关内容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本页属于实验七 · 2学时，第1页。命令以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E:\上课\自动控制原理\RichardC.DorfRobertH.Bishop-ModernControlSystems13thEd.-Pearson2017.pdf，PDF第625—688页</a:t>
            </a:r>
          </a:p>
          <a:p xmlns:a="http://schemas.openxmlformats.org/drawingml/2006/main">
            <a:r>
              <a:t>- E:\上课\自动控制原理\现代控制系统 第十3版_15244176.pdf，第9章</a:t>
            </a:r>
          </a:p>
          <a:p xmlns:a="http://schemas.openxmlformats.org/drawingml/2006/main">
            <a:r>
              <a:t>- E:\上课\自动控制原理\自动控制原理（双语）教学大纲（2024版）-人工智能.docx，实验7</a:t>
            </a:r>
          </a:p>
          <a:p xmlns:a="http://schemas.openxmlformats.org/drawingml/2006/main">
            <a:r>
              <a:t>- E:\上课\自动控制原理\《现代控制系统》中科大课堂配套PPT.pdf，频域稳定性相关内容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本页属于实验七 · 2学时，第2页。命令以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E:\上课\自动控制原理\RichardC.DorfRobertH.Bishop-ModernControlSystems13thEd.-Pearson2017.pdf，PDF第625—688页</a:t>
            </a:r>
          </a:p>
          <a:p xmlns:a="http://schemas.openxmlformats.org/drawingml/2006/main">
            <a:r>
              <a:t>- E:\上课\自动控制原理\现代控制系统 第十3版_15244176.pdf，第9章</a:t>
            </a:r>
          </a:p>
          <a:p xmlns:a="http://schemas.openxmlformats.org/drawingml/2006/main">
            <a:r>
              <a:t>- E:\上课\自动控制原理\自动控制原理（双语）教学大纲（2024版）-人工智能.docx，实验7</a:t>
            </a:r>
          </a:p>
          <a:p xmlns:a="http://schemas.openxmlformats.org/drawingml/2006/main">
            <a:r>
              <a:t>- E:\上课\自动控制原理\《现代控制系统》中科大课堂配套PPT.pdf，频域稳定性相关内容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本页属于实验七 · 2学时，第3页。命令以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E:\上课\自动控制原理\RichardC.DorfRobertH.Bishop-ModernControlSystems13thEd.-Pearson2017.pdf，PDF第625—688页</a:t>
            </a:r>
          </a:p>
          <a:p xmlns:a="http://schemas.openxmlformats.org/drawingml/2006/main">
            <a:r>
              <a:t>- E:\上课\自动控制原理\现代控制系统 第十3版_15244176.pdf，第9章</a:t>
            </a:r>
          </a:p>
          <a:p xmlns:a="http://schemas.openxmlformats.org/drawingml/2006/main">
            <a:r>
              <a:t>- E:\上课\自动控制原理\自动控制原理（双语）教学大纲（2024版）-人工智能.docx，实验7</a:t>
            </a:r>
          </a:p>
          <a:p xmlns:a="http://schemas.openxmlformats.org/drawingml/2006/main">
            <a:r>
              <a:t>- E:\上课\自动控制原理\《现代控制系统》中科大课堂配套PPT.pdf，频域稳定性相关内容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本页属于实验七 · 2学时，第4页。命令以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E:\上课\自动控制原理\RichardC.DorfRobertH.Bishop-ModernControlSystems13thEd.-Pearson2017.pdf，PDF第625—688页</a:t>
            </a:r>
          </a:p>
          <a:p xmlns:a="http://schemas.openxmlformats.org/drawingml/2006/main">
            <a:r>
              <a:t>- E:\上课\自动控制原理\现代控制系统 第十3版_15244176.pdf，第9章</a:t>
            </a:r>
          </a:p>
          <a:p xmlns:a="http://schemas.openxmlformats.org/drawingml/2006/main">
            <a:r>
              <a:t>- E:\上课\自动控制原理\自动控制原理（双语）教学大纲（2024版）-人工智能.docx，实验7</a:t>
            </a:r>
          </a:p>
          <a:p xmlns:a="http://schemas.openxmlformats.org/drawingml/2006/main">
            <a:r>
              <a:t>- E:\上课\自动控制原理\《现代控制系统》中科大课堂配套PPT.pdf，频域稳定性相关内容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本页属于实验七 · 2学时，第5页。命令以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E:\上课\自动控制原理\RichardC.DorfRobertH.Bishop-ModernControlSystems13thEd.-Pearson2017.pdf，PDF第625—688页</a:t>
            </a:r>
          </a:p>
          <a:p xmlns:a="http://schemas.openxmlformats.org/drawingml/2006/main">
            <a:r>
              <a:t>- E:\上课\自动控制原理\现代控制系统 第十3版_15244176.pdf，第9章</a:t>
            </a:r>
          </a:p>
          <a:p xmlns:a="http://schemas.openxmlformats.org/drawingml/2006/main">
            <a:r>
              <a:t>- E:\上课\自动控制原理\自动控制原理（双语）教学大纲（2024版）-人工智能.docx，实验7</a:t>
            </a:r>
          </a:p>
          <a:p xmlns:a="http://schemas.openxmlformats.org/drawingml/2006/main">
            <a:r>
              <a:t>- E:\上课\自动控制原理\《现代控制系统》中科大课堂配套PPT.pdf，频域稳定性相关内容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本页属于实验七 · 2学时，第6页。命令以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E:\上课\自动控制原理\RichardC.DorfRobertH.Bishop-ModernControlSystems13thEd.-Pearson2017.pdf，PDF第625—688页</a:t>
            </a:r>
          </a:p>
          <a:p xmlns:a="http://schemas.openxmlformats.org/drawingml/2006/main">
            <a:r>
              <a:t>- E:\上课\自动控制原理\现代控制系统 第十3版_15244176.pdf，第9章</a:t>
            </a:r>
          </a:p>
          <a:p xmlns:a="http://schemas.openxmlformats.org/drawingml/2006/main">
            <a:r>
              <a:t>- E:\上课\自动控制原理\自动控制原理（双语）教学大纲（2024版）-人工智能.docx，实验7</a:t>
            </a:r>
          </a:p>
          <a:p xmlns:a="http://schemas.openxmlformats.org/drawingml/2006/main">
            <a:r>
              <a:t>- E:\上课\自动控制原理\《现代控制系统》中科大课堂配套PPT.pdf，频域稳定性相关内容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本页属于实验七 · 2学时，第7页。命令以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E:\上课\自动控制原理\RichardC.DorfRobertH.Bishop-ModernControlSystems13thEd.-Pearson2017.pdf，PDF第625—688页</a:t>
            </a:r>
          </a:p>
          <a:p xmlns:a="http://schemas.openxmlformats.org/drawingml/2006/main">
            <a:r>
              <a:t>- E:\上课\自动控制原理\现代控制系统 第十3版_15244176.pdf，第9章</a:t>
            </a:r>
          </a:p>
          <a:p xmlns:a="http://schemas.openxmlformats.org/drawingml/2006/main">
            <a:r>
              <a:t>- E:\上课\自动控制原理\自动控制原理（双语）教学大纲（2024版）-人工智能.docx，实验7</a:t>
            </a:r>
          </a:p>
          <a:p xmlns:a="http://schemas.openxmlformats.org/drawingml/2006/main">
            <a:r>
              <a:t>- E:\上课\自动控制原理\《现代控制系统》中科大课堂配套PPT.pdf，频域稳定性相关内容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本页属于实验七 · 2学时，第8页。命令以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E:\上课\自动控制原理\RichardC.DorfRobertH.Bishop-ModernControlSystems13thEd.-Pearson2017.pdf，PDF第625—688页</a:t>
            </a:r>
          </a:p>
          <a:p xmlns:a="http://schemas.openxmlformats.org/drawingml/2006/main">
            <a:r>
              <a:t>- E:\上课\自动控制原理\现代控制系统 第十3版_15244176.pdf，第9章</a:t>
            </a:r>
          </a:p>
          <a:p xmlns:a="http://schemas.openxmlformats.org/drawingml/2006/main">
            <a:r>
              <a:t>- E:\上课\自动控制原理\自动控制原理（双语）教学大纲（2024版）-人工智能.docx，实验7</a:t>
            </a:r>
          </a:p>
          <a:p xmlns:a="http://schemas.openxmlformats.org/drawingml/2006/main">
            <a:r>
              <a:t>- E:\上课\自动控制原理\《现代控制系统》中科大课堂配套PPT.pdf，频域稳定性相关内容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本页属于实验七 · 2学时，第9页。命令以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E:\上课\自动控制原理\RichardC.DorfRobertH.Bishop-ModernControlSystems13thEd.-Pearson2017.pdf，PDF第625—688页</a:t>
            </a:r>
          </a:p>
          <a:p xmlns:a="http://schemas.openxmlformats.org/drawingml/2006/main">
            <a:r>
              <a:t>- E:\上课\自动控制原理\现代控制系统 第十3版_15244176.pdf，第9章</a:t>
            </a:r>
          </a:p>
          <a:p xmlns:a="http://schemas.openxmlformats.org/drawingml/2006/main">
            <a:r>
              <a:t>- E:\上课\自动控制原理\自动控制原理（双语）教学大纲（2024版）-人工智能.docx，实验7</a:t>
            </a:r>
          </a:p>
          <a:p xmlns:a="http://schemas.openxmlformats.org/drawingml/2006/main">
            <a:r>
              <a:t>- E:\上课\自动控制原理\《现代控制系统》中科大课堂配套PPT.pdf，频域稳定性相关内容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本页属于实验七 · 2学时，第10页。命令以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E:\上课\自动控制原理\RichardC.DorfRobertH.Bishop-ModernControlSystems13thEd.-Pearson2017.pdf，PDF第625—688页</a:t>
            </a:r>
          </a:p>
          <a:p xmlns:a="http://schemas.openxmlformats.org/drawingml/2006/main">
            <a:r>
              <a:t>- E:\上课\自动控制原理\现代控制系统 第十3版_15244176.pdf，第9章</a:t>
            </a:r>
          </a:p>
          <a:p xmlns:a="http://schemas.openxmlformats.org/drawingml/2006/main">
            <a:r>
              <a:t>- E:\上课\自动控制原理\自动控制原理（双语）教学大纲（2024版）-人工智能.docx，实验7</a:t>
            </a:r>
          </a:p>
          <a:p xmlns:a="http://schemas.openxmlformats.org/drawingml/2006/main">
            <a:r>
              <a:t>- E:\上课\自动控制原理\《现代控制系统》中科大课堂配套PPT.pdf，频域稳定性相关内容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本页属于实验七 · 2学时，第11页。命令以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实际运行截图。MATLAB R2025b。数据来源：本实验原有模型。</a:t>
            </a:r>
          </a:p>
          <a:p xmlns:a="http://schemas.openxmlformats.org/drawingml/2006/main">
            <a:r>
              <a:t>图形：F:\codex\slides_generation\tmp\labs_formula_20261022\assets\lab07.fig</a:t>
            </a:r>
          </a:p>
          <a:p xmlns:a="http://schemas.openxmlformats.org/drawingml/2006/main">
            <a:r>
              <a:t>复现：render_lab_assets.m 和 show_lab_figures.m。</a:t>
            </a:r>
          </a:p>
          <a:p xmlns:a="http://schemas.openxmlformats.org/drawingml/2006/main">
            <a:r>
              <a:t>实验08示例控制器：C(s)=60(s+2)/(s+12)，用于对照，并非唯一解。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d999ebb394e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9ea94e518f4215" /><Relationship Type="http://schemas.openxmlformats.org/officeDocument/2006/relationships/slideLayout" Target="/ppt/slideLayouts/slideLayout1.xml" Id="R988663e5a6c340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8663e5a6c340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3440870904b50" /><Relationship Type="http://schemas.openxmlformats.org/officeDocument/2006/relationships/notesSlide" Target="/ppt/notesSlides/notesSlide1.xml" Id="R92057076536a4f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f9dfd0e3d4995" /><Relationship Type="http://schemas.openxmlformats.org/officeDocument/2006/relationships/notesSlide" Target="/ppt/notesSlides/notesSlide2.xml" Id="R7b8615fb53b54b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2b50e2949481f" /><Relationship Type="http://schemas.openxmlformats.org/officeDocument/2006/relationships/image" Target="/ppt/media/image.png" Id="R46a07a50b9d84071" /><Relationship Type="http://schemas.openxmlformats.org/officeDocument/2006/relationships/notesSlide" Target="/ppt/notesSlides/notesSlide3.xml" Id="Rca4eabdf8de74b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0d3238ba64c86" /><Relationship Type="http://schemas.openxmlformats.org/officeDocument/2006/relationships/image" Target="/ppt/media/image2.png" Id="R41edda85ac634f30" /><Relationship Type="http://schemas.openxmlformats.org/officeDocument/2006/relationships/notesSlide" Target="/ppt/notesSlides/notesSlide4.xml" Id="R847f6ac10c814a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e083254014f3b" /><Relationship Type="http://schemas.openxmlformats.org/officeDocument/2006/relationships/notesSlide" Target="/ppt/notesSlides/notesSlide5.xml" Id="Ra3516441220e48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940b3ec574d64" /><Relationship Type="http://schemas.openxmlformats.org/officeDocument/2006/relationships/notesSlide" Target="/ppt/notesSlides/notesSlide6.xml" Id="Rce33dc413afd4d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46d51b6bd4b7e" /><Relationship Type="http://schemas.openxmlformats.org/officeDocument/2006/relationships/notesSlide" Target="/ppt/notesSlides/notesSlide7.xml" Id="Rf3572ae3279842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b911321924481" /><Relationship Type="http://schemas.openxmlformats.org/officeDocument/2006/relationships/notesSlide" Target="/ppt/notesSlides/notesSlide8.xml" Id="Rd460670e25c44d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e03d4e1c54276" /><Relationship Type="http://schemas.openxmlformats.org/officeDocument/2006/relationships/notesSlide" Target="/ppt/notesSlides/notesSlide9.xml" Id="R21dfa7aa12e046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90bf5a9e94548" /><Relationship Type="http://schemas.openxmlformats.org/officeDocument/2006/relationships/notesSlide" Target="/ppt/notesSlides/notesSlide10.xml" Id="R5c1d3e8de97145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7babc6d524c75" /><Relationship Type="http://schemas.openxmlformats.org/officeDocument/2006/relationships/notesSlide" Target="/ppt/notesSlides/notesSlide11.xml" Id="R5a4e3d386d5040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507e0748f49e2" /><Relationship Type="http://schemas.openxmlformats.org/officeDocument/2006/relationships/image" Target="/ppt/media/image.jpeg" Id="R21d2de8734c84f7a" /><Relationship Type="http://schemas.openxmlformats.org/officeDocument/2006/relationships/notesSlide" Target="/ppt/notesSlides/notesSlide12.xml" Id="R00be4a88b7a449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d-band">
            <a:extLst xmlns:a="http://schemas.openxmlformats.org/drawingml/2006/main">
              <a:ext uri="{FF2B5EF4-FFF2-40B4-BE49-F238E27FC236}">
                <a16:creationId xmlns:a16="http://schemas.microsoft.com/office/drawing/2014/main" id="{A4E0CA20-92FE-4A8B-9A6C-83801661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9F71EED-B54F-42EA-8521-B576F53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实验七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B8ED9D1-230E-4E8D-993B-7AB67DD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控制系统频域稳定性分析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894FA42-3F20-45F5-8197-AE50BCEF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Nyquist判据、稳定裕度与带宽</a:t>
            </a:r>
          </a:p>
        </p:txBody>
      </p:sp>
      <p:sp>
        <p:nvSpPr>
          <p:cNvPr id="6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E1C28177-BB12-41CB-91F4-E3D69966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6389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实验七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本次实验用频域图形判断闭环稳定性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依据Nyquist图和开环极点数判断闭环稳定性。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计算增益裕度、相位裕度和交越频率。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比较裕度、带宽与时域响应之间的联系。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/>
            </a:r>
          </a:p>
        </p:txBody>
      </p:sp>
      <p:sp>
        <p:nvSpPr>
          <p:cNvPr id="14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8D38DE29-A4BE-457B-9EAC-B6A0C85B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实验七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实验对象具有明确的临界增益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开环没有右半平面极点，P=0。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Nyquist图不包围−1时闭环稳定。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选择K=20、80、90、100比较。</a:t>
            </a:r>
          </a:p>
        </p:txBody>
      </p:sp>
      <p:sp>
        <p:nvSpPr>
          <p:cNvPr id="14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139ED2CC-5F56-422A-9993-E8277666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960E6-1587-4D37-A109-0209907F6C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07a50b9d84071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实验七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稳定裕度描述距临界条件的距离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幅值穿越频率对应单位幅值，相位穿越频率对应负180°。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本实验对象可用裕度辅助判断，最终以Nyquist判据为准。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裕度过小意味着参数变化下鲁棒性不足。</a:t>
            </a:r>
          </a:p>
        </p:txBody>
      </p:sp>
      <p:sp>
        <p:nvSpPr>
          <p:cNvPr id="14" name="page-number-4">
            <a:extLst xmlns:a="http://schemas.openxmlformats.org/drawingml/2006/main">
              <a:ext uri="{FF2B5EF4-FFF2-40B4-BE49-F238E27FC236}">
                <a16:creationId xmlns:a16="http://schemas.microsoft.com/office/drawing/2014/main" id="{88454B37-C369-4AB4-99BF-B5E2976F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E8370-A554-484D-B37C-0AD3DF8789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dda85ac634f30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0B41CC25-ABFD-40D8-969C-942F00D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实验七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EF5AC451-5D5B-452F-83DC-C6E1BE6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DF79E-4C92-4FDF-9B6E-305E406B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频域稳定性入口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9E60EF-7B51-4404-B604-4EED0EDA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7E7D887B-83E0-4A27-B21D-BD8316C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810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2D6B95FB-606B-49A3-83E6-5A75163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9429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 = tf('s');  K = 80;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L0 = 1/((s+1)*(s+2)*(s+4));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figure; nyquist(K*L0)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figure; margin(K*L0)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allmargin(K*L0)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T = feedback(K*L0,1);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090A79F3-B37F-4607-8593-E323580C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D59D8AC4-EF57-4E3D-9494-C64DD153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分别测试四个K值。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8FC55AF8-6649-435F-971C-9BF080D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04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6FF41B91-A8D9-4429-BC14-2D8A4F3D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9818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放大−1点附近观察轨迹。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5A7EB87B-9723-4BF9-99DF-CCEF1DD0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628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8F8324C4-03C5-4322-AF68-B0DE37B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342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用step验证频域结论。</a:t>
            </a:r>
          </a:p>
        </p:txBody>
      </p:sp>
      <p:sp>
        <p:nvSpPr>
          <p:cNvPr id="14" name="page-number-5">
            <a:extLst xmlns:a="http://schemas.openxmlformats.org/drawingml/2006/main">
              <a:ext uri="{FF2B5EF4-FFF2-40B4-BE49-F238E27FC236}">
                <a16:creationId xmlns:a16="http://schemas.microsoft.com/office/drawing/2014/main" id="{8A622805-7C89-4635-90A9-125800F2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52422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实验七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任务A：Nyquist图与环绕计数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确认开环右半平面极点数P。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绘制K=20、80、90、100的Nyquist图。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记录对−1点的距离、穿越和环绕方向。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由N、P推断闭环右半平面极点数Z。</a:t>
            </a:r>
          </a:p>
        </p:txBody>
      </p:sp>
      <p:sp>
        <p:nvSpPr>
          <p:cNvPr id="14" name="page-number-6">
            <a:extLst xmlns:a="http://schemas.openxmlformats.org/drawingml/2006/main">
              <a:ext uri="{FF2B5EF4-FFF2-40B4-BE49-F238E27FC236}">
                <a16:creationId xmlns:a16="http://schemas.microsoft.com/office/drawing/2014/main" id="{BE1F53BD-0161-49B7-980C-D6A27A5C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实验七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任务B：稳定裕度计算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使用margin和allmargin得到GM、PM及交越频率。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从Bode图手工读取一组裕度并核对软件值。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观察K增大时GM、PM的变化趋势。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找出最接近临界稳定的参数并说明证据。</a:t>
            </a:r>
          </a:p>
        </p:txBody>
      </p:sp>
      <p:sp>
        <p:nvSpPr>
          <p:cNvPr id="14" name="page-number-7">
            <a:extLst xmlns:a="http://schemas.openxmlformats.org/drawingml/2006/main">
              <a:ext uri="{FF2B5EF4-FFF2-40B4-BE49-F238E27FC236}">
                <a16:creationId xmlns:a16="http://schemas.microsoft.com/office/drawing/2014/main" id="{DE37AF8E-5151-4B1D-909C-4E599EEE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实验七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任务C：频域结论与时域响应对应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绘制四组K的闭环阶跃响应。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仅对稳定参数组计算调节时间和stepinfo指标。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比较相位裕度与超调趋势、带宽与响应速度。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说明这些关系为何是近似而非普遍等式。</a:t>
            </a:r>
          </a:p>
        </p:txBody>
      </p:sp>
      <p:sp>
        <p:nvSpPr>
          <p:cNvPr id="14" name="page-number-8">
            <a:extLst xmlns:a="http://schemas.openxmlformats.org/drawingml/2006/main">
              <a:ext uri="{FF2B5EF4-FFF2-40B4-BE49-F238E27FC236}">
                <a16:creationId xmlns:a16="http://schemas.microsoft.com/office/drawing/2014/main" id="{BDD50ABB-C80C-4A33-AE49-8C35AE34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实验七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结果要形成同一参数下的证据链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Nyquist图及−1点局部放大图。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GM、PM、交越频率和闭环极点。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阶跃响应与stepinfo指标。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K变化引起的稳定性和鲁棒性变化。</a:t>
            </a:r>
          </a:p>
        </p:txBody>
      </p:sp>
      <p:sp>
        <p:nvSpPr>
          <p:cNvPr id="14" name="page-number-9">
            <a:extLst xmlns:a="http://schemas.openxmlformats.org/drawingml/2006/main">
              <a:ext uri="{FF2B5EF4-FFF2-40B4-BE49-F238E27FC236}">
                <a16:creationId xmlns:a16="http://schemas.microsoft.com/office/drawing/2014/main" id="{2FFE96C6-23B0-4ACC-B72A-E7331198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72466BC-2F2E-433D-AA86-9F1C2493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实验七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42422796-8B11-44D8-B643-C00047F6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15088-12B4-4916-B54C-3111312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实验报告应包含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92DF72-C987-4486-8872-7ECFF02C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F98FEB63-BC0E-4785-AA3A-1FE16883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C3816F62-C744-469B-9A1B-324BA4D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Nyquist判据中的P、N、Z说明。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EF15B4B2-72E6-4AAF-A4DD-9D489D3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8DBF1A82-8881-43B8-AC4F-3A19175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稳定裕度及手工读图核对。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D0EF406E-3B9B-4CCF-B19F-21283BC8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C67FAB3-65E8-40F8-A38E-C1B2D48C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频域指标与时域响应对照。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672BB070-3A0F-43B1-9D46-966528F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7E79AFB-202E-4A09-882B-236ED98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临界增益、误差来源和结论。</a:t>
            </a:r>
          </a:p>
        </p:txBody>
      </p:sp>
      <p:sp>
        <p:nvSpPr>
          <p:cNvPr id="14" name="page-number-10">
            <a:extLst xmlns:a="http://schemas.openxmlformats.org/drawingml/2006/main">
              <a:ext uri="{FF2B5EF4-FFF2-40B4-BE49-F238E27FC236}">
                <a16:creationId xmlns:a16="http://schemas.microsoft.com/office/drawing/2014/main" id="{F630048C-11FB-4270-9BE8-51564749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52809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实验七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离开实验室前检查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为什么判断环绕前必须先确定P？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GM和PM为正是否能保证所有模型扰动下稳定？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相位裕度增大通常会怎样影响超调？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提交脚本、图形、计算表和分析。</a:t>
            </a:r>
          </a:p>
        </p:txBody>
      </p:sp>
      <p:sp>
        <p:nvSpPr>
          <p:cNvPr id="14" name="page-number-11">
            <a:extLst xmlns:a="http://schemas.openxmlformats.org/drawingml/2006/main">
              <a:ext uri="{FF2B5EF4-FFF2-40B4-BE49-F238E27FC236}">
                <a16:creationId xmlns:a16="http://schemas.microsoft.com/office/drawing/2014/main" id="{E929A08A-1B2A-4840-B3BC-A87889D1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43001176-BFF7-4ACF-B825-90A325A0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0399CC-D850-4C98-A266-261C1A4B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运行结果参考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33CC86-BFC8-4642-ABCA-58B71589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383A7-97D3-498B-86F9-B848EA765F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2de8734c84f7a"/>
          <a:stretch xmlns:a="http://schemas.openxmlformats.org/drawingml/2006/main"/>
        </p:blipFill>
        <p:spPr>
          <a:xfrm xmlns:a="http://schemas.openxmlformats.org/drawingml/2006/main">
            <a:off x="1077331" y="1952625"/>
            <a:ext cx="9275338" cy="566737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1B6108B3-2B17-4B77-8AAF-F982A32C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增益90时经过临界点，边界上不能直接使用常规环绕结论。</a:t>
            </a:r>
          </a:p>
        </p:txBody>
      </p:sp>
      <p:sp>
        <p:nvSpPr>
          <p:cNvPr id="6" name="page-number-12">
            <a:extLst xmlns:a="http://schemas.openxmlformats.org/drawingml/2006/main">
              <a:ext uri="{FF2B5EF4-FFF2-40B4-BE49-F238E27FC236}">
                <a16:creationId xmlns:a16="http://schemas.microsoft.com/office/drawing/2014/main" id="{578342A5-BB38-4FBA-BDD6-BEFA2DB0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2231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2026-10-22T12:36:47.2350000Z</dcterms:created>
  <dcterms:modified xsi:type="dcterms:W3CDTF">2026-10-22T12:36:47.2350000Z</dcterms:modified>
</coreProperties>
</file>