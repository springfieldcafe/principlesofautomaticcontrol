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4638010d4c42f2" /><Relationship Type="http://schemas.openxmlformats.org/officeDocument/2006/relationships/extended-properties" Target="/docProps/app.xml" Id="R4528c8bdad9d4f8c" /><Relationship Type="http://schemas.openxmlformats.org/officeDocument/2006/relationships/officeDocument" Target="/ppt/presentation.xml" Id="R610f86fd2c7d41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ccb3b1fef14988"/>
  </p:sldMasterIdLst>
  <p:notesMasterIdLst>
    <p:notesMasterId xmlns:r="http://schemas.openxmlformats.org/officeDocument/2006/relationships" r:id="R9f453ebe0e654722"/>
  </p:notesMasterIdLst>
  <p:sldIdLst>
    <p:sldId xmlns:r="http://schemas.openxmlformats.org/officeDocument/2006/relationships" id="256" r:id="R2e2ec2a0923f4dd5"/>
    <p:sldId xmlns:r="http://schemas.openxmlformats.org/officeDocument/2006/relationships" id="257" r:id="Rfee8215d91fe4f5c"/>
    <p:sldId xmlns:r="http://schemas.openxmlformats.org/officeDocument/2006/relationships" id="258" r:id="R2d0ec7dab5e14fcb"/>
    <p:sldId xmlns:r="http://schemas.openxmlformats.org/officeDocument/2006/relationships" id="259" r:id="R461fd56e35e14d69"/>
    <p:sldId xmlns:r="http://schemas.openxmlformats.org/officeDocument/2006/relationships" id="260" r:id="R362e67eda0814102"/>
    <p:sldId xmlns:r="http://schemas.openxmlformats.org/officeDocument/2006/relationships" id="261" r:id="R325cb89605e142ec"/>
    <p:sldId xmlns:r="http://schemas.openxmlformats.org/officeDocument/2006/relationships" id="262" r:id="R2dd3d6c62adb4d23"/>
    <p:sldId xmlns:r="http://schemas.openxmlformats.org/officeDocument/2006/relationships" id="263" r:id="Rfb899174f4234f6a"/>
    <p:sldId xmlns:r="http://schemas.openxmlformats.org/officeDocument/2006/relationships" id="264" r:id="R10a6225f896f4107"/>
    <p:sldId xmlns:r="http://schemas.openxmlformats.org/officeDocument/2006/relationships" id="265" r:id="R9b02f50107164ec4"/>
    <p:sldId xmlns:r="http://schemas.openxmlformats.org/officeDocument/2006/relationships" id="266" r:id="Rb342a1974177419f"/>
    <p:sldId xmlns:r="http://schemas.openxmlformats.org/officeDocument/2006/relationships" id="267" r:id="R805e5bf30e60452d"/>
  </p:sldIdLst>
  <p:sldSz cx="1143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4faa8f546d4c40" /><Relationship Type="http://schemas.openxmlformats.org/officeDocument/2006/relationships/slideMaster" Target="/ppt/slideMasters/slideMaster1.xml" Id="R51ccb3b1fef14988" /><Relationship Type="http://schemas.openxmlformats.org/officeDocument/2006/relationships/notesMaster" Target="/ppt/notesMasters/notesMaster1.xml" Id="R9f453ebe0e654722" /><Relationship Type="http://schemas.openxmlformats.org/officeDocument/2006/relationships/presProps" Target="/ppt/presProps.xml" Id="R6f01f61dcc814224" /><Relationship Type="http://schemas.openxmlformats.org/officeDocument/2006/relationships/tableStyles" Target="/ppt/tableStyles.xml" Id="R33b065425799472c" /><Relationship Type="http://schemas.openxmlformats.org/officeDocument/2006/relationships/slide" Target="/ppt/slides/slide1.xml" Id="R2e2ec2a0923f4dd5" /><Relationship Type="http://schemas.openxmlformats.org/officeDocument/2006/relationships/slide" Target="/ppt/slides/slide2.xml" Id="Rfee8215d91fe4f5c" /><Relationship Type="http://schemas.openxmlformats.org/officeDocument/2006/relationships/slide" Target="/ppt/slides/slide3.xml" Id="R2d0ec7dab5e14fcb" /><Relationship Type="http://schemas.openxmlformats.org/officeDocument/2006/relationships/slide" Target="/ppt/slides/slide4.xml" Id="R461fd56e35e14d69" /><Relationship Type="http://schemas.openxmlformats.org/officeDocument/2006/relationships/slide" Target="/ppt/slides/slide5.xml" Id="R362e67eda0814102" /><Relationship Type="http://schemas.openxmlformats.org/officeDocument/2006/relationships/slide" Target="/ppt/slides/slide6.xml" Id="R325cb89605e142ec" /><Relationship Type="http://schemas.openxmlformats.org/officeDocument/2006/relationships/slide" Target="/ppt/slides/slide7.xml" Id="R2dd3d6c62adb4d23" /><Relationship Type="http://schemas.openxmlformats.org/officeDocument/2006/relationships/slide" Target="/ppt/slides/slide8.xml" Id="Rfb899174f4234f6a" /><Relationship Type="http://schemas.openxmlformats.org/officeDocument/2006/relationships/slide" Target="/ppt/slides/slide9.xml" Id="R10a6225f896f4107" /><Relationship Type="http://schemas.openxmlformats.org/officeDocument/2006/relationships/slide" Target="/ppt/slides/slide10.xml" Id="R9b02f50107164ec4" /><Relationship Type="http://schemas.openxmlformats.org/officeDocument/2006/relationships/slide" Target="/ppt/slides/slide11.xml" Id="Rb342a1974177419f" /><Relationship Type="http://schemas.openxmlformats.org/officeDocument/2006/relationships/slide" Target="/ppt/slides/slide12.xml" Id="R805e5bf30e6045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a1693e456c45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2c75db3e804fbe" /><Relationship Type="http://schemas.openxmlformats.org/officeDocument/2006/relationships/notesMaster" Target="/ppt/notesMasters/notesMaster1.xml" Id="Rf0b26d2d1d034a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66c559fdbb4d5b" /><Relationship Type="http://schemas.openxmlformats.org/officeDocument/2006/relationships/notesMaster" Target="/ppt/notesMasters/notesMaster1.xml" Id="Ra39d5f3920de44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e55899079745d1" /><Relationship Type="http://schemas.openxmlformats.org/officeDocument/2006/relationships/notesMaster" Target="/ppt/notesMasters/notesMaster1.xml" Id="R57d78992095242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a99dcf3f2a4589" /><Relationship Type="http://schemas.openxmlformats.org/officeDocument/2006/relationships/notesMaster" Target="/ppt/notesMasters/notesMaster1.xml" Id="Rcc01380ae1134e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5b597847924bdb" /><Relationship Type="http://schemas.openxmlformats.org/officeDocument/2006/relationships/notesMaster" Target="/ppt/notesMasters/notesMaster1.xml" Id="R886e1a9a785545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11fa50775047e5" /><Relationship Type="http://schemas.openxmlformats.org/officeDocument/2006/relationships/notesMaster" Target="/ppt/notesMasters/notesMaster1.xml" Id="Rff7f3052065c44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3f26798ff34f9d" /><Relationship Type="http://schemas.openxmlformats.org/officeDocument/2006/relationships/notesMaster" Target="/ppt/notesMasters/notesMaster1.xml" Id="Race742c4dd424c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ac95d7905841fa" /><Relationship Type="http://schemas.openxmlformats.org/officeDocument/2006/relationships/notesMaster" Target="/ppt/notesMasters/notesMaster1.xml" Id="Ra4a29aafbf4c42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467505d61d4bbd" /><Relationship Type="http://schemas.openxmlformats.org/officeDocument/2006/relationships/notesMaster" Target="/ppt/notesMasters/notesMaster1.xml" Id="R62f7bfc3dedf43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4e75e71b2640d6" /><Relationship Type="http://schemas.openxmlformats.org/officeDocument/2006/relationships/notesMaster" Target="/ppt/notesMasters/notesMaster1.xml" Id="R7a4711b51fc64f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b3ba899cd849aa" /><Relationship Type="http://schemas.openxmlformats.org/officeDocument/2006/relationships/notesMaster" Target="/ppt/notesMasters/notesMaster1.xml" Id="R50aa447ea5264f4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b8056225f942f0" /><Relationship Type="http://schemas.openxmlformats.org/officeDocument/2006/relationships/notesMaster" Target="/ppt/notesMasters/notesMaster1.xml" Id="Ra7094d7b820246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E:\上课\自动控制原理\RichardC.DorfRobertH.Bishop-ModernControlSystems13thEd.-Pearson2017.pdf，PDF第325—395页</a:t>
            </a:r>
          </a:p>
          <a:p xmlns:a="http://schemas.openxmlformats.org/drawingml/2006/main">
            <a:r>
              <a:t>- E:\上课\自动控制原理\现代控制系统 第十3版_15244176.pdf，第5章</a:t>
            </a:r>
          </a:p>
          <a:p xmlns:a="http://schemas.openxmlformats.org/drawingml/2006/main">
            <a:r>
              <a:t>- E:\上课\自动控制原理\自动控制原理（双语）教学大纲（2024版）-人工智能.docx，实验3</a:t>
            </a:r>
          </a:p>
          <a:p xmlns:a="http://schemas.openxmlformats.org/drawingml/2006/main">
            <a:r>
              <a:t>- E:\上课\自动控制原理\《现代控制系统》中科大课堂配套PPT.pdf，反馈控制系统性能相关内容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本页属于实验三 · 2学时，第1页。命令以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E:\上课\自动控制原理\RichardC.DorfRobertH.Bishop-ModernControlSystems13thEd.-Pearson2017.pdf，PDF第325—395页</a:t>
            </a:r>
          </a:p>
          <a:p xmlns:a="http://schemas.openxmlformats.org/drawingml/2006/main">
            <a:r>
              <a:t>- E:\上课\自动控制原理\现代控制系统 第十3版_15244176.pdf，第5章</a:t>
            </a:r>
          </a:p>
          <a:p xmlns:a="http://schemas.openxmlformats.org/drawingml/2006/main">
            <a:r>
              <a:t>- E:\上课\自动控制原理\自动控制原理（双语）教学大纲（2024版）-人工智能.docx，实验3</a:t>
            </a:r>
          </a:p>
          <a:p xmlns:a="http://schemas.openxmlformats.org/drawingml/2006/main">
            <a:r>
              <a:t>- E:\上课\自动控制原理\《现代控制系统》中科大课堂配套PPT.pdf，反馈控制系统性能相关内容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本页属于实验三 · 2学时，第2页。命令以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E:\上课\自动控制原理\RichardC.DorfRobertH.Bishop-ModernControlSystems13thEd.-Pearson2017.pdf，PDF第325—395页</a:t>
            </a:r>
          </a:p>
          <a:p xmlns:a="http://schemas.openxmlformats.org/drawingml/2006/main">
            <a:r>
              <a:t>- E:\上课\自动控制原理\现代控制系统 第十3版_15244176.pdf，第5章</a:t>
            </a:r>
          </a:p>
          <a:p xmlns:a="http://schemas.openxmlformats.org/drawingml/2006/main">
            <a:r>
              <a:t>- E:\上课\自动控制原理\自动控制原理（双语）教学大纲（2024版）-人工智能.docx，实验3</a:t>
            </a:r>
          </a:p>
          <a:p xmlns:a="http://schemas.openxmlformats.org/drawingml/2006/main">
            <a:r>
              <a:t>- E:\上课\自动控制原理\《现代控制系统》中科大课堂配套PPT.pdf，反馈控制系统性能相关内容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本页属于实验三 · 2学时，第3页。命令以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E:\上课\自动控制原理\RichardC.DorfRobertH.Bishop-ModernControlSystems13thEd.-Pearson2017.pdf，PDF第325—395页</a:t>
            </a:r>
          </a:p>
          <a:p xmlns:a="http://schemas.openxmlformats.org/drawingml/2006/main">
            <a:r>
              <a:t>- E:\上课\自动控制原理\现代控制系统 第十3版_15244176.pdf，第5章</a:t>
            </a:r>
          </a:p>
          <a:p xmlns:a="http://schemas.openxmlformats.org/drawingml/2006/main">
            <a:r>
              <a:t>- E:\上课\自动控制原理\自动控制原理（双语）教学大纲（2024版）-人工智能.docx，实验3</a:t>
            </a:r>
          </a:p>
          <a:p xmlns:a="http://schemas.openxmlformats.org/drawingml/2006/main">
            <a:r>
              <a:t>- E:\上课\自动控制原理\《现代控制系统》中科大课堂配套PPT.pdf，反馈控制系统性能相关内容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本页属于实验三 · 2学时，第4页。命令以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E:\上课\自动控制原理\RichardC.DorfRobertH.Bishop-ModernControlSystems13thEd.-Pearson2017.pdf，PDF第325—395页</a:t>
            </a:r>
          </a:p>
          <a:p xmlns:a="http://schemas.openxmlformats.org/drawingml/2006/main">
            <a:r>
              <a:t>- E:\上课\自动控制原理\现代控制系统 第十3版_15244176.pdf，第5章</a:t>
            </a:r>
          </a:p>
          <a:p xmlns:a="http://schemas.openxmlformats.org/drawingml/2006/main">
            <a:r>
              <a:t>- E:\上课\自动控制原理\自动控制原理（双语）教学大纲（2024版）-人工智能.docx，实验3</a:t>
            </a:r>
          </a:p>
          <a:p xmlns:a="http://schemas.openxmlformats.org/drawingml/2006/main">
            <a:r>
              <a:t>- E:\上课\自动控制原理\《现代控制系统》中科大课堂配套PPT.pdf，反馈控制系统性能相关内容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本页属于实验三 · 2学时，第5页。命令以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E:\上课\自动控制原理\RichardC.DorfRobertH.Bishop-ModernControlSystems13thEd.-Pearson2017.pdf，PDF第325—395页</a:t>
            </a:r>
          </a:p>
          <a:p xmlns:a="http://schemas.openxmlformats.org/drawingml/2006/main">
            <a:r>
              <a:t>- E:\上课\自动控制原理\现代控制系统 第十3版_15244176.pdf，第5章</a:t>
            </a:r>
          </a:p>
          <a:p xmlns:a="http://schemas.openxmlformats.org/drawingml/2006/main">
            <a:r>
              <a:t>- E:\上课\自动控制原理\自动控制原理（双语）教学大纲（2024版）-人工智能.docx，实验3</a:t>
            </a:r>
          </a:p>
          <a:p xmlns:a="http://schemas.openxmlformats.org/drawingml/2006/main">
            <a:r>
              <a:t>- E:\上课\自动控制原理\《现代控制系统》中科大课堂配套PPT.pdf，反馈控制系统性能相关内容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本页属于实验三 · 2学时，第6页。命令以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E:\上课\自动控制原理\RichardC.DorfRobertH.Bishop-ModernControlSystems13thEd.-Pearson2017.pdf，PDF第325—395页</a:t>
            </a:r>
          </a:p>
          <a:p xmlns:a="http://schemas.openxmlformats.org/drawingml/2006/main">
            <a:r>
              <a:t>- E:\上课\自动控制原理\现代控制系统 第十3版_15244176.pdf，第5章</a:t>
            </a:r>
          </a:p>
          <a:p xmlns:a="http://schemas.openxmlformats.org/drawingml/2006/main">
            <a:r>
              <a:t>- E:\上课\自动控制原理\自动控制原理（双语）教学大纲（2024版）-人工智能.docx，实验3</a:t>
            </a:r>
          </a:p>
          <a:p xmlns:a="http://schemas.openxmlformats.org/drawingml/2006/main">
            <a:r>
              <a:t>- E:\上课\自动控制原理\《现代控制系统》中科大课堂配套PPT.pdf，反馈控制系统性能相关内容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本页属于实验三 · 2学时，第7页。命令以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E:\上课\自动控制原理\RichardC.DorfRobertH.Bishop-ModernControlSystems13thEd.-Pearson2017.pdf，PDF第325—395页</a:t>
            </a:r>
          </a:p>
          <a:p xmlns:a="http://schemas.openxmlformats.org/drawingml/2006/main">
            <a:r>
              <a:t>- E:\上课\自动控制原理\现代控制系统 第十3版_15244176.pdf，第5章</a:t>
            </a:r>
          </a:p>
          <a:p xmlns:a="http://schemas.openxmlformats.org/drawingml/2006/main">
            <a:r>
              <a:t>- E:\上课\自动控制原理\自动控制原理（双语）教学大纲（2024版）-人工智能.docx，实验3</a:t>
            </a:r>
          </a:p>
          <a:p xmlns:a="http://schemas.openxmlformats.org/drawingml/2006/main">
            <a:r>
              <a:t>- E:\上课\自动控制原理\《现代控制系统》中科大课堂配套PPT.pdf，反馈控制系统性能相关内容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本页属于实验三 · 2学时，第8页。命令以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E:\上课\自动控制原理\RichardC.DorfRobertH.Bishop-ModernControlSystems13thEd.-Pearson2017.pdf，PDF第325—395页</a:t>
            </a:r>
          </a:p>
          <a:p xmlns:a="http://schemas.openxmlformats.org/drawingml/2006/main">
            <a:r>
              <a:t>- E:\上课\自动控制原理\现代控制系统 第十3版_15244176.pdf，第5章</a:t>
            </a:r>
          </a:p>
          <a:p xmlns:a="http://schemas.openxmlformats.org/drawingml/2006/main">
            <a:r>
              <a:t>- E:\上课\自动控制原理\自动控制原理（双语）教学大纲（2024版）-人工智能.docx，实验3</a:t>
            </a:r>
          </a:p>
          <a:p xmlns:a="http://schemas.openxmlformats.org/drawingml/2006/main">
            <a:r>
              <a:t>- E:\上课\自动控制原理\《现代控制系统》中科大课堂配套PPT.pdf，反馈控制系统性能相关内容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本页属于实验三 · 2学时，第9页。命令以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E:\上课\自动控制原理\RichardC.DorfRobertH.Bishop-ModernControlSystems13thEd.-Pearson2017.pdf，PDF第325—395页</a:t>
            </a:r>
          </a:p>
          <a:p xmlns:a="http://schemas.openxmlformats.org/drawingml/2006/main">
            <a:r>
              <a:t>- E:\上课\自动控制原理\现代控制系统 第十3版_15244176.pdf，第5章</a:t>
            </a:r>
          </a:p>
          <a:p xmlns:a="http://schemas.openxmlformats.org/drawingml/2006/main">
            <a:r>
              <a:t>- E:\上课\自动控制原理\自动控制原理（双语）教学大纲（2024版）-人工智能.docx，实验3</a:t>
            </a:r>
          </a:p>
          <a:p xmlns:a="http://schemas.openxmlformats.org/drawingml/2006/main">
            <a:r>
              <a:t>- E:\上课\自动控制原理\《现代控制系统》中科大课堂配套PPT.pdf，反馈控制系统性能相关内容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本页属于实验三 · 2学时，第10页。命令以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E:\上课\自动控制原理\RichardC.DorfRobertH.Bishop-ModernControlSystems13thEd.-Pearson2017.pdf，PDF第325—395页</a:t>
            </a:r>
          </a:p>
          <a:p xmlns:a="http://schemas.openxmlformats.org/drawingml/2006/main">
            <a:r>
              <a:t>- E:\上课\自动控制原理\现代控制系统 第十3版_15244176.pdf，第5章</a:t>
            </a:r>
          </a:p>
          <a:p xmlns:a="http://schemas.openxmlformats.org/drawingml/2006/main">
            <a:r>
              <a:t>- E:\上课\自动控制原理\自动控制原理（双语）教学大纲（2024版）-人工智能.docx，实验3</a:t>
            </a:r>
          </a:p>
          <a:p xmlns:a="http://schemas.openxmlformats.org/drawingml/2006/main">
            <a:r>
              <a:t>- E:\上课\自动控制原理\《现代控制系统》中科大课堂配套PPT.pdf，反馈控制系统性能相关内容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本页属于实验三 · 2学时，第11页。命令以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实际运行截图。MATLAB R2025b。数据来源：本实验原有模型。</a:t>
            </a:r>
          </a:p>
          <a:p xmlns:a="http://schemas.openxmlformats.org/drawingml/2006/main">
            <a:r>
              <a:t>图形：F:\codex\slides_generation\tmp\labs_formula_20261022\assets\lab03.fig</a:t>
            </a:r>
          </a:p>
          <a:p xmlns:a="http://schemas.openxmlformats.org/drawingml/2006/main">
            <a:r>
              <a:t>复现：render_lab_assets.m 和 show_lab_figures.m。</a:t>
            </a:r>
          </a:p>
          <a:p xmlns:a="http://schemas.openxmlformats.org/drawingml/2006/main">
            <a:r>
              <a:t>实验08示例控制器：C(s)=60(s+2)/(s+12)，用于对照，并非唯一解。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5a1ddf6e9d4e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122331d930496c" /><Relationship Type="http://schemas.openxmlformats.org/officeDocument/2006/relationships/slideLayout" Target="/ppt/slideLayouts/slideLayout1.xml" Id="R90411953705341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411953705341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2b4a1ed9947d5" /><Relationship Type="http://schemas.openxmlformats.org/officeDocument/2006/relationships/notesSlide" Target="/ppt/notesSlides/notesSlide1.xml" Id="Rd4ba08b05d7d43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abd3df80d4cbf" /><Relationship Type="http://schemas.openxmlformats.org/officeDocument/2006/relationships/notesSlide" Target="/ppt/notesSlides/notesSlide2.xml" Id="Rd76975bccba84b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6297d6fd54385" /><Relationship Type="http://schemas.openxmlformats.org/officeDocument/2006/relationships/image" Target="/ppt/media/image.png" Id="R4dda2edb889d4f4a" /><Relationship Type="http://schemas.openxmlformats.org/officeDocument/2006/relationships/notesSlide" Target="/ppt/notesSlides/notesSlide3.xml" Id="R401bceeff78144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e24cb35394b16" /><Relationship Type="http://schemas.openxmlformats.org/officeDocument/2006/relationships/image" Target="/ppt/media/image2.png" Id="Rf3ae1d3f17d143a0" /><Relationship Type="http://schemas.openxmlformats.org/officeDocument/2006/relationships/notesSlide" Target="/ppt/notesSlides/notesSlide4.xml" Id="R85b7588759cf4c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943a05b1748d5" /><Relationship Type="http://schemas.openxmlformats.org/officeDocument/2006/relationships/notesSlide" Target="/ppt/notesSlides/notesSlide5.xml" Id="R3f40e97c69d647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33a1d8581462b" /><Relationship Type="http://schemas.openxmlformats.org/officeDocument/2006/relationships/notesSlide" Target="/ppt/notesSlides/notesSlide6.xml" Id="R940009a0467849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8051ce1294be1" /><Relationship Type="http://schemas.openxmlformats.org/officeDocument/2006/relationships/notesSlide" Target="/ppt/notesSlides/notesSlide7.xml" Id="Race1258e70f148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8b68b7e144411" /><Relationship Type="http://schemas.openxmlformats.org/officeDocument/2006/relationships/notesSlide" Target="/ppt/notesSlides/notesSlide8.xml" Id="R454e9fcf562c41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c59ba08e148b2" /><Relationship Type="http://schemas.openxmlformats.org/officeDocument/2006/relationships/notesSlide" Target="/ppt/notesSlides/notesSlide9.xml" Id="Rbeb04176c9c849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9ecbeba314b47" /><Relationship Type="http://schemas.openxmlformats.org/officeDocument/2006/relationships/notesSlide" Target="/ppt/notesSlides/notesSlide10.xml" Id="R08d337b0033b49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1db35836d4db7" /><Relationship Type="http://schemas.openxmlformats.org/officeDocument/2006/relationships/notesSlide" Target="/ppt/notesSlides/notesSlide11.xml" Id="R26d7013e864e46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275ece6764764" /><Relationship Type="http://schemas.openxmlformats.org/officeDocument/2006/relationships/image" Target="/ppt/media/image.jpeg" Id="R9513eaa429ca46a5" /><Relationship Type="http://schemas.openxmlformats.org/officeDocument/2006/relationships/notesSlide" Target="/ppt/notesSlides/notesSlide12.xml" Id="Rf31af433b4fc41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d-band">
            <a:extLst xmlns:a="http://schemas.openxmlformats.org/drawingml/2006/main">
              <a:ext uri="{FF2B5EF4-FFF2-40B4-BE49-F238E27FC236}">
                <a16:creationId xmlns:a16="http://schemas.microsoft.com/office/drawing/2014/main" id="{A4E0CA20-92FE-4A8B-9A6C-83801661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89F71EED-B54F-42EA-8521-B576F535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实验三</a:t>
            </a:r>
          </a:p>
        </p:txBody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CB8ED9D1-230E-4E8D-993B-7AB67DDB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971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控制系统性能指标分析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8894FA42-3F20-45F5-8197-AE50BCEF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从极点参数到阶跃响应指标</a:t>
            </a:r>
          </a:p>
        </p:txBody>
      </p:sp>
      <p:sp>
        <p:nvSpPr>
          <p:cNvPr id="6" name="page-number-1">
            <a:extLst xmlns:a="http://schemas.openxmlformats.org/drawingml/2006/main">
              <a:ext uri="{FF2B5EF4-FFF2-40B4-BE49-F238E27FC236}">
                <a16:creationId xmlns:a16="http://schemas.microsoft.com/office/drawing/2014/main" id="{E85BC7D3-8244-4270-89A9-D7249099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26389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实验三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本次实验把理论指标变成可测数据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计算上升时间、峰值时间、超调量和调节时间。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验证阻尼比与自然频率对响应的不同影响。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观察附加零点、极点对二阶近似的破坏。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34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C00000"/>
                </a:solidFill>
              </a:defRPr>
            </a:pPr>
            <a:r>
              <a:rPr sz="1650" b="1">
                <a:solidFill>
                  <a:srgbClr val="C00000"/>
                </a:solidFill>
              </a:rPr>
              <a:t/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0540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11111"/>
                </a:solidFill>
              </a:defRPr>
            </a:pPr>
            <a:r>
              <a:rPr sz="2025">
                <a:solidFill>
                  <a:srgbClr val="111111"/>
                </a:solidFill>
              </a:rPr>
              <a:t/>
            </a:r>
          </a:p>
        </p:txBody>
      </p:sp>
      <p:sp>
        <p:nvSpPr>
          <p:cNvPr id="14" name="page-number-2">
            <a:extLst xmlns:a="http://schemas.openxmlformats.org/drawingml/2006/main">
              <a:ext uri="{FF2B5EF4-FFF2-40B4-BE49-F238E27FC236}">
                <a16:creationId xmlns:a16="http://schemas.microsoft.com/office/drawing/2014/main" id="{4C309295-D2F6-4A41-BEAC-89E07093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042BF93-C5B8-4745-A9D8-58208EA5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实验三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35D05F74-83CA-4E61-AFEB-BDD84A9F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398E99-95B0-45CD-BBA4-1A125C76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标准二阶系统是本次实验基准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1559CDB-EF92-45FC-8565-65BF9600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9C57A23E-994F-4C41-B15A-CF67B2F6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9906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7E6E6"/>
            </a:solidFill>
            <a:prstDash val="solid"/>
          </a:ln>
        </p:spPr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0A416605-238B-4E80-B8F6-84CA978B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8953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/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E0E05D2D-C31D-466A-B37A-E8E8B283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6ECCF8CF-C11F-48A5-ABAE-ADAF282B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固定ωₙ，比较阻尼比对振荡和超调的影响。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E5CB4618-0281-41DB-BEDA-5405600A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F5EADACD-D293-465B-B1BB-705E1A7D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389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固定ζ，再改变ωₙ观察时间尺度变化。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E3CC01DA-8409-421E-9078-F85B9DDF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866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F1F7B91A-8030-4F9F-BB29-F9BFA017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580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先用公式预测，再用stepinfo测量。</a:t>
            </a:r>
          </a:p>
        </p:txBody>
      </p:sp>
      <p:sp>
        <p:nvSpPr>
          <p:cNvPr id="14" name="page-number-3">
            <a:extLst xmlns:a="http://schemas.openxmlformats.org/drawingml/2006/main">
              <a:ext uri="{FF2B5EF4-FFF2-40B4-BE49-F238E27FC236}">
                <a16:creationId xmlns:a16="http://schemas.microsoft.com/office/drawing/2014/main" id="{931D94A2-80A8-49DA-B31C-B1D5DB8B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5AC087-2EB6-4A06-9B99-909785437A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a2edb889d4f4a"/>
          <a:stretch xmlns:a="http://schemas.openxmlformats.org/drawingml/2006/main"/>
        </p:blipFill>
        <p:spPr>
          <a:xfrm xmlns:a="http://schemas.openxmlformats.org/drawingml/2006/main">
            <a:off x="1492724" y="2143125"/>
            <a:ext cx="8444552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091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042BF93-C5B8-4745-A9D8-58208EA5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实验三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35D05F74-83CA-4E61-AFEB-BDD84A9F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398E99-95B0-45CD-BBA4-1A125C76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常用指标之间有明确联系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1559CDB-EF92-45FC-8565-65BF9600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9C57A23E-994F-4C41-B15A-CF67B2F6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9906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7E6E6"/>
            </a:solidFill>
            <a:prstDash val="solid"/>
          </a:ln>
        </p:spPr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0A416605-238B-4E80-B8F6-84CA978B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8953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/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E0E05D2D-C31D-466A-B37A-E8E8B283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6ECCF8CF-C11F-48A5-ABAE-ADAF282B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超调量与峰值时间公式适用于欠阻尼标准二阶系统。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E5CB4618-0281-41DB-BEDA-5405600A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F5EADACD-D293-465B-B1BB-705E1A7D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389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调节时间采用2%误差带，所列近似式用于估算。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E3CC01DA-8409-421E-9078-F85B9DDF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866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F1F7B91A-8030-4F9F-BB29-F9BFA017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580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软件默认阈值应与报告采用的定义一致。</a:t>
            </a:r>
          </a:p>
        </p:txBody>
      </p:sp>
      <p:sp>
        <p:nvSpPr>
          <p:cNvPr id="14" name="page-number-4">
            <a:extLst xmlns:a="http://schemas.openxmlformats.org/drawingml/2006/main">
              <a:ext uri="{FF2B5EF4-FFF2-40B4-BE49-F238E27FC236}">
                <a16:creationId xmlns:a16="http://schemas.microsoft.com/office/drawing/2014/main" id="{3243818A-1F70-4B10-91E5-D2DAE01C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047F12-B484-45F7-8144-05BCA40604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e1d3f17d143a0"/>
          <a:stretch xmlns:a="http://schemas.openxmlformats.org/drawingml/2006/main"/>
        </p:blipFill>
        <p:spPr>
          <a:xfrm xmlns:a="http://schemas.openxmlformats.org/drawingml/2006/main">
            <a:off x="1492724" y="2143125"/>
            <a:ext cx="8444552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091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0B41CC25-ABFD-40D8-969C-942F00D1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实验三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EF5AC451-5D5B-452F-83DC-C6E1BE69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CDF79E-4C92-4FDF-9B6E-305E406B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MATLAB 分析入口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C9E60EF-7B51-4404-B604-4EED0EDA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7E7D887B-83E0-4A27-B21D-BD8316C3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98107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7E6E6"/>
            </a:solidFill>
            <a:prstDash val="solid"/>
          </a:ln>
        </p:spPr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2D6B95FB-606B-49A3-83E6-5A751634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9429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wn = 4;  Z = [.2 .5 .7 1];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figure; hold 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for z = Z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T = tf(wn^2,[1 2*z*wn wn^2]);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step(T);  disp(stepinfo(T))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end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grid on</a:t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090A79F3-B37F-4607-8593-E323580C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D59D8AC4-EF57-4E3D-9494-C64DD153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293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循环计算每个阻尼比。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8FC55AF8-6649-435F-971C-9BF080DA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04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6FF41B91-A8D9-4429-BC14-2D8A4F3D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9818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保存stepinfo结果为表格。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5A7EB87B-9723-4BF9-99DF-CCEF1DD0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628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8F8324C4-03C5-4322-AF68-B0DE37BC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5342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注明2%或5%调节时间标准。</a:t>
            </a:r>
          </a:p>
        </p:txBody>
      </p:sp>
      <p:sp>
        <p:nvSpPr>
          <p:cNvPr id="14" name="page-number-5">
            <a:extLst xmlns:a="http://schemas.openxmlformats.org/drawingml/2006/main">
              <a:ext uri="{FF2B5EF4-FFF2-40B4-BE49-F238E27FC236}">
                <a16:creationId xmlns:a16="http://schemas.microsoft.com/office/drawing/2014/main" id="{471CAB35-16CA-4666-975A-D38D88BC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52422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实验三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任务A：阻尼比参数扫描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固定ωₙ=4，依次设置四个ζ值。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叠加阶跃曲线并记录Mp、tp、tr、ts。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用理论公式计算Mp和tp，与软件值比较。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解释ζ接近1时曲线为何不再振荡。</a:t>
            </a:r>
          </a:p>
        </p:txBody>
      </p:sp>
      <p:sp>
        <p:nvSpPr>
          <p:cNvPr id="14" name="page-number-6">
            <a:extLst xmlns:a="http://schemas.openxmlformats.org/drawingml/2006/main">
              <a:ext uri="{FF2B5EF4-FFF2-40B4-BE49-F238E27FC236}">
                <a16:creationId xmlns:a16="http://schemas.microsoft.com/office/drawing/2014/main" id="{48132920-B446-45B4-857C-508E51D2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实验三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任务B：改变自然频率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固定ζ=0.5，令ωₙ=2、4、8。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比较三个系统的极点位置和时间指标。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验证ωₙ主要改变响应速度而不显著改变相对超调。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检查仿真终止时间是否足以覆盖慢系统。</a:t>
            </a:r>
          </a:p>
        </p:txBody>
      </p:sp>
      <p:sp>
        <p:nvSpPr>
          <p:cNvPr id="14" name="page-number-7">
            <a:extLst xmlns:a="http://schemas.openxmlformats.org/drawingml/2006/main">
              <a:ext uri="{FF2B5EF4-FFF2-40B4-BE49-F238E27FC236}">
                <a16:creationId xmlns:a16="http://schemas.microsoft.com/office/drawing/2014/main" id="{5D7FE85D-C228-44BD-A301-9CE87AE7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实验三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任务C：附加极点与零点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附加零点分别取−2、−10，并保持直流增益不变。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附加极点分别取−5、−20，并保持直流增益不变。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比较主导极点近似何时仍然可信。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从曲线变化解释零点和非主导极点的影响。</a:t>
            </a:r>
          </a:p>
        </p:txBody>
      </p:sp>
      <p:sp>
        <p:nvSpPr>
          <p:cNvPr id="14" name="page-number-8">
            <a:extLst xmlns:a="http://schemas.openxmlformats.org/drawingml/2006/main">
              <a:ext uri="{FF2B5EF4-FFF2-40B4-BE49-F238E27FC236}">
                <a16:creationId xmlns:a16="http://schemas.microsoft.com/office/drawing/2014/main" id="{A491CB0C-BFE2-45C7-B039-FCD980DE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实验三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结果表应形成参数—指标对应关系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ζ、ωₙ与闭环极点位置。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Mp、tp、tr、ts的理论值和仿真值。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附加极点/零点位置与误差大小。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每幅图只改变一个主要因素并标明图例。</a:t>
            </a:r>
          </a:p>
        </p:txBody>
      </p:sp>
      <p:sp>
        <p:nvSpPr>
          <p:cNvPr id="14" name="page-number-9">
            <a:extLst xmlns:a="http://schemas.openxmlformats.org/drawingml/2006/main">
              <a:ext uri="{FF2B5EF4-FFF2-40B4-BE49-F238E27FC236}">
                <a16:creationId xmlns:a16="http://schemas.microsoft.com/office/drawing/2014/main" id="{61D35693-EF69-456A-A612-49F112A5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72466BC-2F2E-433D-AA86-9F1C2493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实验三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42422796-8B11-44D8-B643-C00047F6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215088-12B4-4916-B54C-31113124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实验报告应包含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A92DF72-C987-4486-8872-7ECFF02C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F98FEB63-BC0E-4785-AA3A-1FE16883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C3816F62-C744-469B-9A1B-324BA4D9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指标定义与采用的测量阈值。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EF15B4B2-72E6-4AAF-A4DD-9D489D3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8DBF1A82-8881-43B8-AC4F-3A19175D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参数扫描表和叠加响应图。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D0EF406E-3B9B-4CCF-B19F-21283BC8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AC67FAB3-65E8-40F8-A38E-C1B2D48C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理论公式与stepinfo结果的误差。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672BB070-3A0F-43B1-9D46-966528FB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47E79AFB-202E-4A09-882B-236ED98C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二阶近似适用条件和结论。</a:t>
            </a:r>
          </a:p>
        </p:txBody>
      </p:sp>
      <p:sp>
        <p:nvSpPr>
          <p:cNvPr id="14" name="page-number-10">
            <a:extLst xmlns:a="http://schemas.openxmlformats.org/drawingml/2006/main">
              <a:ext uri="{FF2B5EF4-FFF2-40B4-BE49-F238E27FC236}">
                <a16:creationId xmlns:a16="http://schemas.microsoft.com/office/drawing/2014/main" id="{B108F305-FA41-4147-A466-AD4EDA32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452809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实验三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离开实验室前检查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为什么相同ζ下改变ωₙ不会明显改变百分比超调？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附加零点靠近主导极点时会发生什么？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stepinfo结果与手工读图不一致时先检查什么？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提交脚本、数据表和带单位的结论。</a:t>
            </a:r>
          </a:p>
        </p:txBody>
      </p:sp>
      <p:sp>
        <p:nvSpPr>
          <p:cNvPr id="14" name="page-number-11">
            <a:extLst xmlns:a="http://schemas.openxmlformats.org/drawingml/2006/main">
              <a:ext uri="{FF2B5EF4-FFF2-40B4-BE49-F238E27FC236}">
                <a16:creationId xmlns:a16="http://schemas.microsoft.com/office/drawing/2014/main" id="{7E562DE8-4FBB-4F77-BD12-F3B5138E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63C29209-4C66-4D25-AE84-10388CF1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实验三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372B32-1242-4434-90D7-9EE4C9A5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MATLAB 运行结果参考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140D49C-8130-4244-901B-CF60CE4C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CFD34-8370-4DE9-A855-5557F4A6A5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3eaa429ca46a5"/>
          <a:stretch xmlns:a="http://schemas.openxmlformats.org/drawingml/2006/main"/>
        </p:blipFill>
        <p:spPr>
          <a:xfrm xmlns:a="http://schemas.openxmlformats.org/drawingml/2006/main">
            <a:off x="1077331" y="1952625"/>
            <a:ext cx="9275338" cy="5667375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C4D7C85B-EFB7-4EA0-809D-5FE182A6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自然频率固定，阻尼比越小，振荡和超调越明显。</a:t>
            </a:r>
          </a:p>
        </p:txBody>
      </p:sp>
      <p:sp>
        <p:nvSpPr>
          <p:cNvPr id="6" name="page-number-12">
            <a:extLst xmlns:a="http://schemas.openxmlformats.org/drawingml/2006/main">
              <a:ext uri="{FF2B5EF4-FFF2-40B4-BE49-F238E27FC236}">
                <a16:creationId xmlns:a16="http://schemas.microsoft.com/office/drawing/2014/main" id="{9C5F6A45-A715-46F6-8405-8D7BB2F5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448716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2026-10-22T12:36:35.6470000Z</dcterms:created>
  <dcterms:modified xsi:type="dcterms:W3CDTF">2026-10-22T12:36:35.6470000Z</dcterms:modified>
</coreProperties>
</file>