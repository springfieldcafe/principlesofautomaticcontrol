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977e9acd6c484a" /><Relationship Type="http://schemas.openxmlformats.org/officeDocument/2006/relationships/extended-properties" Target="/docProps/app.xml" Id="Rd293aa5fca644373" /><Relationship Type="http://schemas.openxmlformats.org/officeDocument/2006/relationships/officeDocument" Target="/ppt/presentation.xml" Id="R366f067f6b5d4d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a28463ef89453a"/>
  </p:sldMasterIdLst>
  <p:notesMasterIdLst>
    <p:notesMasterId xmlns:r="http://schemas.openxmlformats.org/officeDocument/2006/relationships" r:id="R63f6a69d5a804581"/>
  </p:notesMasterIdLst>
  <p:sldIdLst>
    <p:sldId xmlns:r="http://schemas.openxmlformats.org/officeDocument/2006/relationships" id="256" r:id="R0eb7078a1ccc4f59"/>
    <p:sldId xmlns:r="http://schemas.openxmlformats.org/officeDocument/2006/relationships" id="257" r:id="R8019d67c7b004b73"/>
    <p:sldId xmlns:r="http://schemas.openxmlformats.org/officeDocument/2006/relationships" id="258" r:id="Re500a5f3238c495d"/>
    <p:sldId xmlns:r="http://schemas.openxmlformats.org/officeDocument/2006/relationships" id="259" r:id="R3e010ca2d8724650"/>
    <p:sldId xmlns:r="http://schemas.openxmlformats.org/officeDocument/2006/relationships" id="260" r:id="Ra5104ccaa2e24b6c"/>
    <p:sldId xmlns:r="http://schemas.openxmlformats.org/officeDocument/2006/relationships" id="261" r:id="Rab017591bc2b42f7"/>
    <p:sldId xmlns:r="http://schemas.openxmlformats.org/officeDocument/2006/relationships" id="262" r:id="R9e2a17d237794ae6"/>
    <p:sldId xmlns:r="http://schemas.openxmlformats.org/officeDocument/2006/relationships" id="263" r:id="Rb0dee8488ca8461e"/>
    <p:sldId xmlns:r="http://schemas.openxmlformats.org/officeDocument/2006/relationships" id="264" r:id="R9d474d70f1b24c16"/>
    <p:sldId xmlns:r="http://schemas.openxmlformats.org/officeDocument/2006/relationships" id="265" r:id="R6707461614a946c4"/>
    <p:sldId xmlns:r="http://schemas.openxmlformats.org/officeDocument/2006/relationships" id="266" r:id="R224f7f6c52c340a4"/>
    <p:sldId xmlns:r="http://schemas.openxmlformats.org/officeDocument/2006/relationships" id="267" r:id="Re347e8e72d554afc"/>
  </p:sldIdLst>
  <p:sldSz cx="1143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39f62cc0124497" /><Relationship Type="http://schemas.openxmlformats.org/officeDocument/2006/relationships/slideMaster" Target="/ppt/slideMasters/slideMaster1.xml" Id="Rcba28463ef89453a" /><Relationship Type="http://schemas.openxmlformats.org/officeDocument/2006/relationships/notesMaster" Target="/ppt/notesMasters/notesMaster1.xml" Id="R63f6a69d5a804581" /><Relationship Type="http://schemas.openxmlformats.org/officeDocument/2006/relationships/presProps" Target="/ppt/presProps.xml" Id="R0d7cba5a3cea427e" /><Relationship Type="http://schemas.openxmlformats.org/officeDocument/2006/relationships/tableStyles" Target="/ppt/tableStyles.xml" Id="R9ec9fed184354f14" /><Relationship Type="http://schemas.openxmlformats.org/officeDocument/2006/relationships/slide" Target="/ppt/slides/slide1.xml" Id="R0eb7078a1ccc4f59" /><Relationship Type="http://schemas.openxmlformats.org/officeDocument/2006/relationships/slide" Target="/ppt/slides/slide2.xml" Id="R8019d67c7b004b73" /><Relationship Type="http://schemas.openxmlformats.org/officeDocument/2006/relationships/slide" Target="/ppt/slides/slide3.xml" Id="Re500a5f3238c495d" /><Relationship Type="http://schemas.openxmlformats.org/officeDocument/2006/relationships/slide" Target="/ppt/slides/slide4.xml" Id="R3e010ca2d8724650" /><Relationship Type="http://schemas.openxmlformats.org/officeDocument/2006/relationships/slide" Target="/ppt/slides/slide5.xml" Id="Ra5104ccaa2e24b6c" /><Relationship Type="http://schemas.openxmlformats.org/officeDocument/2006/relationships/slide" Target="/ppt/slides/slide6.xml" Id="Rab017591bc2b42f7" /><Relationship Type="http://schemas.openxmlformats.org/officeDocument/2006/relationships/slide" Target="/ppt/slides/slide7.xml" Id="R9e2a17d237794ae6" /><Relationship Type="http://schemas.openxmlformats.org/officeDocument/2006/relationships/slide" Target="/ppt/slides/slide8.xml" Id="Rb0dee8488ca8461e" /><Relationship Type="http://schemas.openxmlformats.org/officeDocument/2006/relationships/slide" Target="/ppt/slides/slide9.xml" Id="R9d474d70f1b24c16" /><Relationship Type="http://schemas.openxmlformats.org/officeDocument/2006/relationships/slide" Target="/ppt/slides/slide10.xml" Id="R6707461614a946c4" /><Relationship Type="http://schemas.openxmlformats.org/officeDocument/2006/relationships/slide" Target="/ppt/slides/slide11.xml" Id="R224f7f6c52c340a4" /><Relationship Type="http://schemas.openxmlformats.org/officeDocument/2006/relationships/slide" Target="/ppt/slides/slide12.xml" Id="Re347e8e72d554a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e36cec6e8a4a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9bd16e76b149ec" /><Relationship Type="http://schemas.openxmlformats.org/officeDocument/2006/relationships/notesMaster" Target="/ppt/notesMasters/notesMaster1.xml" Id="R393936d00e9543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5bdb93065a4eb3" /><Relationship Type="http://schemas.openxmlformats.org/officeDocument/2006/relationships/notesMaster" Target="/ppt/notesMasters/notesMaster1.xml" Id="R71b435564c394e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bd26d95c1a47e7" /><Relationship Type="http://schemas.openxmlformats.org/officeDocument/2006/relationships/notesMaster" Target="/ppt/notesMasters/notesMaster1.xml" Id="R61ea696d318346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a1409ae3b54239" /><Relationship Type="http://schemas.openxmlformats.org/officeDocument/2006/relationships/notesMaster" Target="/ppt/notesMasters/notesMaster1.xml" Id="R74cc9d450eab41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337dd5952c407a" /><Relationship Type="http://schemas.openxmlformats.org/officeDocument/2006/relationships/notesMaster" Target="/ppt/notesMasters/notesMaster1.xml" Id="R32fb994f12904a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99615c71ad4dc9" /><Relationship Type="http://schemas.openxmlformats.org/officeDocument/2006/relationships/notesMaster" Target="/ppt/notesMasters/notesMaster1.xml" Id="Rf7432675655740e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d7bf4b77a94e7f" /><Relationship Type="http://schemas.openxmlformats.org/officeDocument/2006/relationships/notesMaster" Target="/ppt/notesMasters/notesMaster1.xml" Id="R9c2fb59234dc44b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823239f96bc4359" /><Relationship Type="http://schemas.openxmlformats.org/officeDocument/2006/relationships/notesMaster" Target="/ppt/notesMasters/notesMaster1.xml" Id="Rb916c2a39a39487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0d73e66f07444a4" /><Relationship Type="http://schemas.openxmlformats.org/officeDocument/2006/relationships/notesMaster" Target="/ppt/notesMasters/notesMaster1.xml" Id="Rd34aaa480558471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256633ce70640e4" /><Relationship Type="http://schemas.openxmlformats.org/officeDocument/2006/relationships/notesMaster" Target="/ppt/notesMasters/notesMaster1.xml" Id="R1be308f4ed25426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c912d05d4724e76" /><Relationship Type="http://schemas.openxmlformats.org/officeDocument/2006/relationships/notesMaster" Target="/ppt/notesMasters/notesMaster1.xml" Id="R068fefb546f14a6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5a20632d4cf411d" /><Relationship Type="http://schemas.openxmlformats.org/officeDocument/2006/relationships/notesMaster" Target="/ppt/notesMasters/notesMaster1.xml" Id="Ra96c24d8c78947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E:\上课\自动控制原理\RichardC.DorfRobertH.Bishop-ModernControlSystems13thEd.-Pearson2017.pdf，PDF第733—849页</a:t>
            </a:r>
          </a:p>
          <a:p xmlns:a="http://schemas.openxmlformats.org/drawingml/2006/main">
            <a:r>
              <a:t>- E:\上课\自动控制原理\现代控制系统 第十3版_15244176.pdf，第10章</a:t>
            </a:r>
          </a:p>
          <a:p xmlns:a="http://schemas.openxmlformats.org/drawingml/2006/main">
            <a:r>
              <a:t>- E:\上课\自动控制原理\自动控制原理（双语）教学大纲（2024版）-人工智能.docx，实验8</a:t>
            </a:r>
          </a:p>
          <a:p xmlns:a="http://schemas.openxmlformats.org/drawingml/2006/main">
            <a:r>
              <a:t>- E:\上课\自动控制原理\《现代控制系统》中科大课堂配套PPT.pdf，反馈控制系统设计相关内容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本页属于实验八 · 2学时，第1页。命令以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E:\上课\自动控制原理\RichardC.DorfRobertH.Bishop-ModernControlSystems13thEd.-Pearson2017.pdf，PDF第733—849页</a:t>
            </a:r>
          </a:p>
          <a:p xmlns:a="http://schemas.openxmlformats.org/drawingml/2006/main">
            <a:r>
              <a:t>- E:\上课\自动控制原理\现代控制系统 第十3版_15244176.pdf，第10章</a:t>
            </a:r>
          </a:p>
          <a:p xmlns:a="http://schemas.openxmlformats.org/drawingml/2006/main">
            <a:r>
              <a:t>- E:\上课\自动控制原理\自动控制原理（双语）教学大纲（2024版）-人工智能.docx，实验8</a:t>
            </a:r>
          </a:p>
          <a:p xmlns:a="http://schemas.openxmlformats.org/drawingml/2006/main">
            <a:r>
              <a:t>- E:\上课\自动控制原理\《现代控制系统》中科大课堂配套PPT.pdf，反馈控制系统设计相关内容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本页属于实验八 · 2学时，第2页。命令以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E:\上课\自动控制原理\RichardC.DorfRobertH.Bishop-ModernControlSystems13thEd.-Pearson2017.pdf，PDF第733—849页</a:t>
            </a:r>
          </a:p>
          <a:p xmlns:a="http://schemas.openxmlformats.org/drawingml/2006/main">
            <a:r>
              <a:t>- E:\上课\自动控制原理\现代控制系统 第十3版_15244176.pdf，第10章</a:t>
            </a:r>
          </a:p>
          <a:p xmlns:a="http://schemas.openxmlformats.org/drawingml/2006/main">
            <a:r>
              <a:t>- E:\上课\自动控制原理\自动控制原理（双语）教学大纲（2024版）-人工智能.docx，实验8</a:t>
            </a:r>
          </a:p>
          <a:p xmlns:a="http://schemas.openxmlformats.org/drawingml/2006/main">
            <a:r>
              <a:t>- E:\上课\自动控制原理\《现代控制系统》中科大课堂配套PPT.pdf，反馈控制系统设计相关内容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本页属于实验八 · 2学时，第3页。命令以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E:\上课\自动控制原理\RichardC.DorfRobertH.Bishop-ModernControlSystems13thEd.-Pearson2017.pdf，PDF第733—849页</a:t>
            </a:r>
          </a:p>
          <a:p xmlns:a="http://schemas.openxmlformats.org/drawingml/2006/main">
            <a:r>
              <a:t>- E:\上课\自动控制原理\现代控制系统 第十3版_15244176.pdf，第10章</a:t>
            </a:r>
          </a:p>
          <a:p xmlns:a="http://schemas.openxmlformats.org/drawingml/2006/main">
            <a:r>
              <a:t>- E:\上课\自动控制原理\自动控制原理（双语）教学大纲（2024版）-人工智能.docx，实验8</a:t>
            </a:r>
          </a:p>
          <a:p xmlns:a="http://schemas.openxmlformats.org/drawingml/2006/main">
            <a:r>
              <a:t>- E:\上课\自动控制原理\《现代控制系统》中科大课堂配套PPT.pdf，反馈控制系统设计相关内容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本页属于实验八 · 2学时，第4页。命令以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E:\上课\自动控制原理\RichardC.DorfRobertH.Bishop-ModernControlSystems13thEd.-Pearson2017.pdf，PDF第733—849页</a:t>
            </a:r>
          </a:p>
          <a:p xmlns:a="http://schemas.openxmlformats.org/drawingml/2006/main">
            <a:r>
              <a:t>- E:\上课\自动控制原理\现代控制系统 第十3版_15244176.pdf，第10章</a:t>
            </a:r>
          </a:p>
          <a:p xmlns:a="http://schemas.openxmlformats.org/drawingml/2006/main">
            <a:r>
              <a:t>- E:\上课\自动控制原理\自动控制原理（双语）教学大纲（2024版）-人工智能.docx，实验8</a:t>
            </a:r>
          </a:p>
          <a:p xmlns:a="http://schemas.openxmlformats.org/drawingml/2006/main">
            <a:r>
              <a:t>- E:\上课\自动控制原理\《现代控制系统》中科大课堂配套PPT.pdf，反馈控制系统设计相关内容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本页属于实验八 · 2学时，第5页。命令以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E:\上课\自动控制原理\RichardC.DorfRobertH.Bishop-ModernControlSystems13thEd.-Pearson2017.pdf，PDF第733—849页</a:t>
            </a:r>
          </a:p>
          <a:p xmlns:a="http://schemas.openxmlformats.org/drawingml/2006/main">
            <a:r>
              <a:t>- E:\上课\自动控制原理\现代控制系统 第十3版_15244176.pdf，第10章</a:t>
            </a:r>
          </a:p>
          <a:p xmlns:a="http://schemas.openxmlformats.org/drawingml/2006/main">
            <a:r>
              <a:t>- E:\上课\自动控制原理\自动控制原理（双语）教学大纲（2024版）-人工智能.docx，实验8</a:t>
            </a:r>
          </a:p>
          <a:p xmlns:a="http://schemas.openxmlformats.org/drawingml/2006/main">
            <a:r>
              <a:t>- E:\上课\自动控制原理\《现代控制系统》中科大课堂配套PPT.pdf，反馈控制系统设计相关内容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本页属于实验八 · 2学时，第6页。命令以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E:\上课\自动控制原理\RichardC.DorfRobertH.Bishop-ModernControlSystems13thEd.-Pearson2017.pdf，PDF第733—849页</a:t>
            </a:r>
          </a:p>
          <a:p xmlns:a="http://schemas.openxmlformats.org/drawingml/2006/main">
            <a:r>
              <a:t>- E:\上课\自动控制原理\现代控制系统 第十3版_15244176.pdf，第10章</a:t>
            </a:r>
          </a:p>
          <a:p xmlns:a="http://schemas.openxmlformats.org/drawingml/2006/main">
            <a:r>
              <a:t>- E:\上课\自动控制原理\自动控制原理（双语）教学大纲（2024版）-人工智能.docx，实验8</a:t>
            </a:r>
          </a:p>
          <a:p xmlns:a="http://schemas.openxmlformats.org/drawingml/2006/main">
            <a:r>
              <a:t>- E:\上课\自动控制原理\《现代控制系统》中科大课堂配套PPT.pdf，反馈控制系统设计相关内容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本页属于实验八 · 2学时，第7页。命令以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E:\上课\自动控制原理\RichardC.DorfRobertH.Bishop-ModernControlSystems13thEd.-Pearson2017.pdf，PDF第733—849页</a:t>
            </a:r>
          </a:p>
          <a:p xmlns:a="http://schemas.openxmlformats.org/drawingml/2006/main">
            <a:r>
              <a:t>- E:\上课\自动控制原理\现代控制系统 第十3版_15244176.pdf，第10章</a:t>
            </a:r>
          </a:p>
          <a:p xmlns:a="http://schemas.openxmlformats.org/drawingml/2006/main">
            <a:r>
              <a:t>- E:\上课\自动控制原理\自动控制原理（双语）教学大纲（2024版）-人工智能.docx，实验8</a:t>
            </a:r>
          </a:p>
          <a:p xmlns:a="http://schemas.openxmlformats.org/drawingml/2006/main">
            <a:r>
              <a:t>- E:\上课\自动控制原理\《现代控制系统》中科大课堂配套PPT.pdf，反馈控制系统设计相关内容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本页属于实验八 · 2学时，第8页。命令以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E:\上课\自动控制原理\RichardC.DorfRobertH.Bishop-ModernControlSystems13thEd.-Pearson2017.pdf，PDF第733—849页</a:t>
            </a:r>
          </a:p>
          <a:p xmlns:a="http://schemas.openxmlformats.org/drawingml/2006/main">
            <a:r>
              <a:t>- E:\上课\自动控制原理\现代控制系统 第十3版_15244176.pdf，第10章</a:t>
            </a:r>
          </a:p>
          <a:p xmlns:a="http://schemas.openxmlformats.org/drawingml/2006/main">
            <a:r>
              <a:t>- E:\上课\自动控制原理\自动控制原理（双语）教学大纲（2024版）-人工智能.docx，实验8</a:t>
            </a:r>
          </a:p>
          <a:p xmlns:a="http://schemas.openxmlformats.org/drawingml/2006/main">
            <a:r>
              <a:t>- E:\上课\自动控制原理\《现代控制系统》中科大课堂配套PPT.pdf，反馈控制系统设计相关内容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本页属于实验八 · 2学时，第9页。命令以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E:\上课\自动控制原理\RichardC.DorfRobertH.Bishop-ModernControlSystems13thEd.-Pearson2017.pdf，PDF第733—849页</a:t>
            </a:r>
          </a:p>
          <a:p xmlns:a="http://schemas.openxmlformats.org/drawingml/2006/main">
            <a:r>
              <a:t>- E:\上课\自动控制原理\现代控制系统 第十3版_15244176.pdf，第10章</a:t>
            </a:r>
          </a:p>
          <a:p xmlns:a="http://schemas.openxmlformats.org/drawingml/2006/main">
            <a:r>
              <a:t>- E:\上课\自动控制原理\自动控制原理（双语）教学大纲（2024版）-人工智能.docx，实验8</a:t>
            </a:r>
          </a:p>
          <a:p xmlns:a="http://schemas.openxmlformats.org/drawingml/2006/main">
            <a:r>
              <a:t>- E:\上课\自动控制原理\《现代控制系统》中科大课堂配套PPT.pdf，反馈控制系统设计相关内容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本页属于实验八 · 2学时，第10页。命令以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E:\上课\自动控制原理\RichardC.DorfRobertH.Bishop-ModernControlSystems13thEd.-Pearson2017.pdf，PDF第733—849页</a:t>
            </a:r>
          </a:p>
          <a:p xmlns:a="http://schemas.openxmlformats.org/drawingml/2006/main">
            <a:r>
              <a:t>- E:\上课\自动控制原理\现代控制系统 第十3版_15244176.pdf，第10章</a:t>
            </a:r>
          </a:p>
          <a:p xmlns:a="http://schemas.openxmlformats.org/drawingml/2006/main">
            <a:r>
              <a:t>- E:\上课\自动控制原理\自动控制原理（双语）教学大纲（2024版）-人工智能.docx，实验8</a:t>
            </a:r>
          </a:p>
          <a:p xmlns:a="http://schemas.openxmlformats.org/drawingml/2006/main">
            <a:r>
              <a:t>- E:\上课\自动控制原理\《现代控制系统》中科大课堂配套PPT.pdf，反馈控制系统设计相关内容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本页属于实验八 · 2学时，第11页。命令以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实际运行截图。MATLAB R2025b。数据来源：本实验原有模型。</a:t>
            </a:r>
          </a:p>
          <a:p xmlns:a="http://schemas.openxmlformats.org/drawingml/2006/main">
            <a:r>
              <a:t>图形：F:\codex\slides_generation\tmp\labs_formula_20261022\assets\lab08.fig</a:t>
            </a:r>
          </a:p>
          <a:p xmlns:a="http://schemas.openxmlformats.org/drawingml/2006/main">
            <a:r>
              <a:t>复现：render_lab_assets.m 和 show_lab_figures.m。</a:t>
            </a:r>
          </a:p>
          <a:p xmlns:a="http://schemas.openxmlformats.org/drawingml/2006/main">
            <a:r>
              <a:t>实验08示例控制器：C(s)=60(s+2)/(s+12)，用于对照，并非唯一解。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826dd5702747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4fdd5494cd473b" /><Relationship Type="http://schemas.openxmlformats.org/officeDocument/2006/relationships/slideLayout" Target="/ppt/slideLayouts/slideLayout1.xml" Id="Ree31fd9c519148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31fd9c519148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94dd5f37da4bef" /><Relationship Type="http://schemas.openxmlformats.org/officeDocument/2006/relationships/notesSlide" Target="/ppt/notesSlides/notesSlide1.xml" Id="R4a47198a5bef40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d46358a8ba4a01" /><Relationship Type="http://schemas.openxmlformats.org/officeDocument/2006/relationships/notesSlide" Target="/ppt/notesSlides/notesSlide2.xml" Id="Ra3dabcf05554441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5aa51bc793415c" /><Relationship Type="http://schemas.openxmlformats.org/officeDocument/2006/relationships/image" Target="/ppt/media/image.png" Id="R22ea236080c64be0" /><Relationship Type="http://schemas.openxmlformats.org/officeDocument/2006/relationships/notesSlide" Target="/ppt/notesSlides/notesSlide3.xml" Id="R9f398cd6844344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a25886a25f4e65" /><Relationship Type="http://schemas.openxmlformats.org/officeDocument/2006/relationships/image" Target="/ppt/media/image2.png" Id="Rdbd9bee06c9a4f69" /><Relationship Type="http://schemas.openxmlformats.org/officeDocument/2006/relationships/notesSlide" Target="/ppt/notesSlides/notesSlide4.xml" Id="R292c0ee059374d5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debcca52674691" /><Relationship Type="http://schemas.openxmlformats.org/officeDocument/2006/relationships/notesSlide" Target="/ppt/notesSlides/notesSlide5.xml" Id="R1d40f48b8c274bf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958738522340d2" /><Relationship Type="http://schemas.openxmlformats.org/officeDocument/2006/relationships/notesSlide" Target="/ppt/notesSlides/notesSlide6.xml" Id="R1586d3eeef3346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2a0cfcb9ec4f1e" /><Relationship Type="http://schemas.openxmlformats.org/officeDocument/2006/relationships/notesSlide" Target="/ppt/notesSlides/notesSlide7.xml" Id="R250578d8e845457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1c795f107c42cc" /><Relationship Type="http://schemas.openxmlformats.org/officeDocument/2006/relationships/notesSlide" Target="/ppt/notesSlides/notesSlide8.xml" Id="R55709137d3ab41d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e5d111062b473b" /><Relationship Type="http://schemas.openxmlformats.org/officeDocument/2006/relationships/notesSlide" Target="/ppt/notesSlides/notesSlide9.xml" Id="R8d50376848db4fe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43b757bba5456b" /><Relationship Type="http://schemas.openxmlformats.org/officeDocument/2006/relationships/notesSlide" Target="/ppt/notesSlides/notesSlide10.xml" Id="R5a1db9cc5a0744c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cc8813ddbf4ab4" /><Relationship Type="http://schemas.openxmlformats.org/officeDocument/2006/relationships/notesSlide" Target="/ppt/notesSlides/notesSlide11.xml" Id="Rc2d0f5b8dae14a4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34f30701244b3a" /><Relationship Type="http://schemas.openxmlformats.org/officeDocument/2006/relationships/image" Target="/ppt/media/image.jpeg" Id="R562c947d7ce94aa0" /><Relationship Type="http://schemas.openxmlformats.org/officeDocument/2006/relationships/notesSlide" Target="/ppt/notesSlides/notesSlide12.xml" Id="Rc307cc445ea6475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d-band">
            <a:extLst xmlns:a="http://schemas.openxmlformats.org/drawingml/2006/main">
              <a:ext uri="{FF2B5EF4-FFF2-40B4-BE49-F238E27FC236}">
                <a16:creationId xmlns:a16="http://schemas.microsoft.com/office/drawing/2014/main" id="{A4E0CA20-92FE-4A8B-9A6C-83801661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89F71EED-B54F-42EA-8521-B576F535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812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实验八</a:t>
            </a:r>
          </a:p>
        </p:txBody>
      </p:sp>
      <p:sp>
        <p:nvSpPr>
          <p:cNvPr id="3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CB8ED9D1-230E-4E8D-993B-7AB67DDB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9715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反馈控制系统设计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8894FA42-3F20-45F5-8197-AE50BCEF5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用串联校正在稳定、速度与稳态精度间折衷</a:t>
            </a:r>
          </a:p>
        </p:txBody>
      </p:sp>
      <p:sp>
        <p:nvSpPr>
          <p:cNvPr id="6" name="page-number-1">
            <a:extLst xmlns:a="http://schemas.openxmlformats.org/drawingml/2006/main">
              <a:ext uri="{FF2B5EF4-FFF2-40B4-BE49-F238E27FC236}">
                <a16:creationId xmlns:a16="http://schemas.microsoft.com/office/drawing/2014/main" id="{4B00E056-55A7-4CC0-AD79-833BA9DE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263890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3B74E2FF-84DC-4611-B761-566C06FD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实验八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0AB39AB2-ACBF-41C3-B985-25A9D4AB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A1F85E-0F3C-4E05-B7AA-16D5F271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本次实验完成一次可验证的设计闭环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C34190-D959-41A6-9FB6-9353E01A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D919466A-980C-4813-881B-F054B632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3A9ED995-35F7-4C5A-B43A-CB7AF220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把稳定裕度、瞬态指标和稳态误差转化为设计约束。</a:t>
            </a:r>
          </a:p>
        </p:txBody>
      </p:sp>
      <p:sp>
        <p:nvSpPr>
          <p:cNvPr id="7" name="arrow-1">
            <a:extLst xmlns:a="http://schemas.openxmlformats.org/drawingml/2006/main">
              <a:ext uri="{FF2B5EF4-FFF2-40B4-BE49-F238E27FC236}">
                <a16:creationId xmlns:a16="http://schemas.microsoft.com/office/drawing/2014/main" id="{909292C0-757A-4E69-B906-E7093DD2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FBAD81E8-D144-4E0D-8ED2-8A4E52B0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9567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采用超前校正改善相位裕度和响应速度。</a:t>
            </a:r>
          </a:p>
        </p:txBody>
      </p:sp>
      <p:sp>
        <p:nvSpPr>
          <p:cNvPr id="9" name="arrow-2">
            <a:extLst xmlns:a="http://schemas.openxmlformats.org/drawingml/2006/main">
              <a:ext uri="{FF2B5EF4-FFF2-40B4-BE49-F238E27FC236}">
                <a16:creationId xmlns:a16="http://schemas.microsoft.com/office/drawing/2014/main" id="{4F16988B-1E5D-4351-A3D3-BF7D0992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DBDC4783-6A63-4C4B-98A4-091AA8C9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006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必要时增加滞后校正恢复低频增益。</a:t>
            </a:r>
          </a:p>
        </p:txBody>
      </p:sp>
      <p:sp>
        <p:nvSpPr>
          <p:cNvPr id="11" name="arrow-3">
            <a:extLst xmlns:a="http://schemas.openxmlformats.org/drawingml/2006/main">
              <a:ext uri="{FF2B5EF4-FFF2-40B4-BE49-F238E27FC236}">
                <a16:creationId xmlns:a16="http://schemas.microsoft.com/office/drawing/2014/main" id="{D9C4802A-4F33-4B76-82A3-04E07EC6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24450"/>
            <a:ext cx="342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C00000"/>
                </a:solidFill>
              </a:defRPr>
            </a:pPr>
            <a:r>
              <a:rPr sz="1650" b="1">
                <a:solidFill>
                  <a:srgbClr val="C00000"/>
                </a:solidFill>
              </a:rPr>
              <a:t/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FEB5086A-91A6-4BDC-B463-B028D120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05400"/>
            <a:ext cx="9525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111111"/>
                </a:solidFill>
              </a:defRPr>
            </a:pPr>
            <a:r>
              <a:rPr sz="2025">
                <a:solidFill>
                  <a:srgbClr val="111111"/>
                </a:solidFill>
              </a:rPr>
              <a:t/>
            </a:r>
          </a:p>
        </p:txBody>
      </p:sp>
      <p:sp>
        <p:nvSpPr>
          <p:cNvPr id="14" name="page-number-2">
            <a:extLst xmlns:a="http://schemas.openxmlformats.org/drawingml/2006/main">
              <a:ext uri="{FF2B5EF4-FFF2-40B4-BE49-F238E27FC236}">
                <a16:creationId xmlns:a16="http://schemas.microsoft.com/office/drawing/2014/main" id="{E37152E6-8A64-4BFB-98A0-B1073CAF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872412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C042BF93-C5B8-4745-A9D8-58208EA5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实验八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35D05F74-83CA-4E61-AFEB-BDD84A9F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6398E99-95B0-45CD-BBA4-1A125C76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被控对象与建议设计指标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61559CDB-EF92-45FC-8565-65BF9600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formula-panel">
            <a:extLst xmlns:a="http://schemas.openxmlformats.org/drawingml/2006/main">
              <a:ext uri="{FF2B5EF4-FFF2-40B4-BE49-F238E27FC236}">
                <a16:creationId xmlns:a16="http://schemas.microsoft.com/office/drawing/2014/main" id="{9C57A23E-994F-4C41-B15A-CF67B2F6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9906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7E6E6"/>
            </a:solidFill>
            <a:prstDash val="solid"/>
          </a:ln>
        </p:spPr>
      </p:sp>
      <p:sp>
        <p:nvSpPr>
          <p:cNvPr id="6" name="formula">
            <a:extLst xmlns:a="http://schemas.openxmlformats.org/drawingml/2006/main">
              <a:ext uri="{FF2B5EF4-FFF2-40B4-BE49-F238E27FC236}">
                <a16:creationId xmlns:a16="http://schemas.microsoft.com/office/drawing/2014/main" id="{0A416605-238B-4E80-B8F6-84CA978B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62200"/>
            <a:ext cx="8953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0">
                <a:solidFill>
                  <a:srgbClr val="111111"/>
                </a:solidFill>
              </a:defRPr>
            </a:pPr>
            <a:r>
              <a:rPr sz="2250" b="0">
                <a:solidFill>
                  <a:srgbClr val="111111"/>
                </a:solidFill>
              </a:rPr>
              <a:t/>
            </a:r>
          </a:p>
        </p:txBody>
      </p:sp>
      <p:sp>
        <p:nvSpPr>
          <p:cNvPr id="7" name="arrow-0">
            <a:extLst xmlns:a="http://schemas.openxmlformats.org/drawingml/2006/main">
              <a:ext uri="{FF2B5EF4-FFF2-40B4-BE49-F238E27FC236}">
                <a16:creationId xmlns:a16="http://schemas.microsoft.com/office/drawing/2014/main" id="{E0E05D2D-C31D-466A-B37A-E8E8B283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48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0">
            <a:extLst xmlns:a="http://schemas.openxmlformats.org/drawingml/2006/main">
              <a:ext uri="{FF2B5EF4-FFF2-40B4-BE49-F238E27FC236}">
                <a16:creationId xmlns:a16="http://schemas.microsoft.com/office/drawing/2014/main" id="{6ECCF8CF-C11F-48A5-ABAE-ADAF282B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619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指标若存在冲突，应记录取舍过程。</a:t>
            </a:r>
          </a:p>
        </p:txBody>
      </p:sp>
      <p:sp>
        <p:nvSpPr>
          <p:cNvPr id="9" name="arrow-1">
            <a:extLst xmlns:a="http://schemas.openxmlformats.org/drawingml/2006/main">
              <a:ext uri="{FF2B5EF4-FFF2-40B4-BE49-F238E27FC236}">
                <a16:creationId xmlns:a16="http://schemas.microsoft.com/office/drawing/2014/main" id="{E5CB4618-0281-41DB-BEDA-5405600A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675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1">
            <a:extLst xmlns:a="http://schemas.openxmlformats.org/drawingml/2006/main">
              <a:ext uri="{FF2B5EF4-FFF2-40B4-BE49-F238E27FC236}">
                <a16:creationId xmlns:a16="http://schemas.microsoft.com/office/drawing/2014/main" id="{F5EADACD-D293-465B-B1BB-705E1A7D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4389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先分析未校正系统，再设计控制器。</a:t>
            </a:r>
          </a:p>
        </p:txBody>
      </p:sp>
      <p:sp>
        <p:nvSpPr>
          <p:cNvPr id="11" name="arrow-2">
            <a:extLst xmlns:a="http://schemas.openxmlformats.org/drawingml/2006/main">
              <a:ext uri="{FF2B5EF4-FFF2-40B4-BE49-F238E27FC236}">
                <a16:creationId xmlns:a16="http://schemas.microsoft.com/office/drawing/2014/main" id="{E3CC01DA-8409-421E-9078-F85B9DDF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866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2">
            <a:extLst xmlns:a="http://schemas.openxmlformats.org/drawingml/2006/main">
              <a:ext uri="{FF2B5EF4-FFF2-40B4-BE49-F238E27FC236}">
                <a16:creationId xmlns:a16="http://schemas.microsoft.com/office/drawing/2014/main" id="{F1F7B91A-8030-4F9F-BB29-F9BFA017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580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最终结论必须由频域与时域共同验证。</a:t>
            </a:r>
          </a:p>
        </p:txBody>
      </p:sp>
      <p:sp>
        <p:nvSpPr>
          <p:cNvPr id="14" name="page-number-3">
            <a:extLst xmlns:a="http://schemas.openxmlformats.org/drawingml/2006/main">
              <a:ext uri="{FF2B5EF4-FFF2-40B4-BE49-F238E27FC236}">
                <a16:creationId xmlns:a16="http://schemas.microsoft.com/office/drawing/2014/main" id="{27292E89-0E19-46AF-98A4-39244F8C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94A511-E035-41F8-8BDB-F1F96ED614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ea236080c64be0"/>
          <a:stretch xmlns:a="http://schemas.openxmlformats.org/drawingml/2006/main"/>
        </p:blipFill>
        <p:spPr>
          <a:xfrm xmlns:a="http://schemas.openxmlformats.org/drawingml/2006/main">
            <a:off x="1492724" y="2143125"/>
            <a:ext cx="8444552" cy="3143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1091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C042BF93-C5B8-4745-A9D8-58208EA5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实验八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35D05F74-83CA-4E61-AFEB-BDD84A9F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6398E99-95B0-45CD-BBA4-1A125C76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串联校正器提供可调零极点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61559CDB-EF92-45FC-8565-65BF9600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formula-panel">
            <a:extLst xmlns:a="http://schemas.openxmlformats.org/drawingml/2006/main">
              <a:ext uri="{FF2B5EF4-FFF2-40B4-BE49-F238E27FC236}">
                <a16:creationId xmlns:a16="http://schemas.microsoft.com/office/drawing/2014/main" id="{9C57A23E-994F-4C41-B15A-CF67B2F6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9906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7E6E6"/>
            </a:solidFill>
            <a:prstDash val="solid"/>
          </a:ln>
        </p:spPr>
      </p:sp>
      <p:sp>
        <p:nvSpPr>
          <p:cNvPr id="6" name="formula">
            <a:extLst xmlns:a="http://schemas.openxmlformats.org/drawingml/2006/main">
              <a:ext uri="{FF2B5EF4-FFF2-40B4-BE49-F238E27FC236}">
                <a16:creationId xmlns:a16="http://schemas.microsoft.com/office/drawing/2014/main" id="{0A416605-238B-4E80-B8F6-84CA978B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62200"/>
            <a:ext cx="8953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0">
                <a:solidFill>
                  <a:srgbClr val="111111"/>
                </a:solidFill>
              </a:defRPr>
            </a:pPr>
            <a:r>
              <a:rPr sz="2250" b="0">
                <a:solidFill>
                  <a:srgbClr val="111111"/>
                </a:solidFill>
              </a:rPr>
              <a:t/>
            </a:r>
          </a:p>
        </p:txBody>
      </p:sp>
      <p:sp>
        <p:nvSpPr>
          <p:cNvPr id="7" name="arrow-0">
            <a:extLst xmlns:a="http://schemas.openxmlformats.org/drawingml/2006/main">
              <a:ext uri="{FF2B5EF4-FFF2-40B4-BE49-F238E27FC236}">
                <a16:creationId xmlns:a16="http://schemas.microsoft.com/office/drawing/2014/main" id="{E0E05D2D-C31D-466A-B37A-E8E8B283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48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0">
            <a:extLst xmlns:a="http://schemas.openxmlformats.org/drawingml/2006/main">
              <a:ext uri="{FF2B5EF4-FFF2-40B4-BE49-F238E27FC236}">
                <a16:creationId xmlns:a16="http://schemas.microsoft.com/office/drawing/2014/main" id="{6ECCF8CF-C11F-48A5-ABAE-ADAF282B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619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超前环节在目标频段提供正相位。</a:t>
            </a:r>
          </a:p>
        </p:txBody>
      </p:sp>
      <p:sp>
        <p:nvSpPr>
          <p:cNvPr id="9" name="arrow-1">
            <a:extLst xmlns:a="http://schemas.openxmlformats.org/drawingml/2006/main">
              <a:ext uri="{FF2B5EF4-FFF2-40B4-BE49-F238E27FC236}">
                <a16:creationId xmlns:a16="http://schemas.microsoft.com/office/drawing/2014/main" id="{E5CB4618-0281-41DB-BEDA-5405600A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675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1">
            <a:extLst xmlns:a="http://schemas.openxmlformats.org/drawingml/2006/main">
              <a:ext uri="{FF2B5EF4-FFF2-40B4-BE49-F238E27FC236}">
                <a16:creationId xmlns:a16="http://schemas.microsoft.com/office/drawing/2014/main" id="{F5EADACD-D293-465B-B1BB-705E1A7D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4389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滞后环节主要提高低频相对增益。</a:t>
            </a:r>
          </a:p>
        </p:txBody>
      </p:sp>
      <p:sp>
        <p:nvSpPr>
          <p:cNvPr id="11" name="arrow-2">
            <a:extLst xmlns:a="http://schemas.openxmlformats.org/drawingml/2006/main">
              <a:ext uri="{FF2B5EF4-FFF2-40B4-BE49-F238E27FC236}">
                <a16:creationId xmlns:a16="http://schemas.microsoft.com/office/drawing/2014/main" id="{E3CC01DA-8409-421E-9078-F85B9DDF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866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2">
            <a:extLst xmlns:a="http://schemas.openxmlformats.org/drawingml/2006/main">
              <a:ext uri="{FF2B5EF4-FFF2-40B4-BE49-F238E27FC236}">
                <a16:creationId xmlns:a16="http://schemas.microsoft.com/office/drawing/2014/main" id="{F1F7B91A-8030-4F9F-BB29-F9BFA017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580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校正器参数应避免过度放大高频噪声。</a:t>
            </a:r>
          </a:p>
        </p:txBody>
      </p:sp>
      <p:sp>
        <p:nvSpPr>
          <p:cNvPr id="14" name="page-number-4">
            <a:extLst xmlns:a="http://schemas.openxmlformats.org/drawingml/2006/main">
              <a:ext uri="{FF2B5EF4-FFF2-40B4-BE49-F238E27FC236}">
                <a16:creationId xmlns:a16="http://schemas.microsoft.com/office/drawing/2014/main" id="{9F5968AA-53F4-462D-B0D8-43DF0B09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EB195D-4B06-47E7-8073-7825DA71DE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d9bee06c9a4f69"/>
          <a:stretch xmlns:a="http://schemas.openxmlformats.org/drawingml/2006/main"/>
        </p:blipFill>
        <p:spPr>
          <a:xfrm xmlns:a="http://schemas.openxmlformats.org/drawingml/2006/main">
            <a:off x="1492724" y="2143125"/>
            <a:ext cx="8444552" cy="3143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1091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0B41CC25-ABFD-40D8-969C-942F00D1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实验八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EF5AC451-5D5B-452F-83DC-C6E1BE69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CDF79E-4C92-4FDF-9B6E-305E406B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MATLAB 设计与验证入口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1C9E60EF-7B51-4404-B604-4EED0EDA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formula-panel">
            <a:extLst xmlns:a="http://schemas.openxmlformats.org/drawingml/2006/main">
              <a:ext uri="{FF2B5EF4-FFF2-40B4-BE49-F238E27FC236}">
                <a16:creationId xmlns:a16="http://schemas.microsoft.com/office/drawing/2014/main" id="{7E7D887B-83E0-4A27-B21D-BD8316C3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98107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7E6E6"/>
            </a:solidFill>
            <a:prstDash val="solid"/>
          </a:ln>
        </p:spPr>
      </p:sp>
      <p:sp>
        <p:nvSpPr>
          <p:cNvPr id="6" name="formula">
            <a:extLst xmlns:a="http://schemas.openxmlformats.org/drawingml/2006/main">
              <a:ext uri="{FF2B5EF4-FFF2-40B4-BE49-F238E27FC236}">
                <a16:creationId xmlns:a16="http://schemas.microsoft.com/office/drawing/2014/main" id="{2D6B95FB-606B-49A3-83E6-5A751634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05050"/>
            <a:ext cx="9429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s = tf('s');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G = 1/(s*(s+2)*(s+5));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K = 60;  z = 2;  p = 12;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C = K*(s+z)/(s+p);  L = C*G;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T = feedback(L,1);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margin(L);  figure; step(T)</a:t>
            </a:r>
          </a:p>
        </p:txBody>
      </p:sp>
      <p:sp>
        <p:nvSpPr>
          <p:cNvPr id="7" name="arrow-0">
            <a:extLst xmlns:a="http://schemas.openxmlformats.org/drawingml/2006/main">
              <a:ext uri="{FF2B5EF4-FFF2-40B4-BE49-F238E27FC236}">
                <a16:creationId xmlns:a16="http://schemas.microsoft.com/office/drawing/2014/main" id="{090A79F3-B37F-4607-8593-E323580C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579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0">
            <a:extLst xmlns:a="http://schemas.openxmlformats.org/drawingml/2006/main">
              <a:ext uri="{FF2B5EF4-FFF2-40B4-BE49-F238E27FC236}">
                <a16:creationId xmlns:a16="http://schemas.microsoft.com/office/drawing/2014/main" id="{D59D8AC4-EF57-4E3D-9494-C64DD153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42937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先保存未校正基准结果。</a:t>
            </a:r>
          </a:p>
        </p:txBody>
      </p:sp>
      <p:sp>
        <p:nvSpPr>
          <p:cNvPr id="9" name="arrow-1">
            <a:extLst xmlns:a="http://schemas.openxmlformats.org/drawingml/2006/main">
              <a:ext uri="{FF2B5EF4-FFF2-40B4-BE49-F238E27FC236}">
                <a16:creationId xmlns:a16="http://schemas.microsoft.com/office/drawing/2014/main" id="{8FC55AF8-6649-435F-971C-9BF080DA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04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1">
            <a:extLst xmlns:a="http://schemas.openxmlformats.org/drawingml/2006/main">
              <a:ext uri="{FF2B5EF4-FFF2-40B4-BE49-F238E27FC236}">
                <a16:creationId xmlns:a16="http://schemas.microsoft.com/office/drawing/2014/main" id="{6FF41B91-A8D9-4429-BC14-2D8A4F3D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9818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每次只调整一类参数。</a:t>
            </a:r>
          </a:p>
        </p:txBody>
      </p:sp>
      <p:sp>
        <p:nvSpPr>
          <p:cNvPr id="11" name="arrow-2">
            <a:extLst xmlns:a="http://schemas.openxmlformats.org/drawingml/2006/main">
              <a:ext uri="{FF2B5EF4-FFF2-40B4-BE49-F238E27FC236}">
                <a16:creationId xmlns:a16="http://schemas.microsoft.com/office/drawing/2014/main" id="{5A7EB87B-9723-4BF9-99DF-CCEF1DD0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628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2">
            <a:extLst xmlns:a="http://schemas.openxmlformats.org/drawingml/2006/main">
              <a:ext uri="{FF2B5EF4-FFF2-40B4-BE49-F238E27FC236}">
                <a16:creationId xmlns:a16="http://schemas.microsoft.com/office/drawing/2014/main" id="{8F8324C4-03C5-4322-AF68-B0DE37BC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53427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用S、T检查鲁棒性与噪声折衷。</a:t>
            </a:r>
          </a:p>
        </p:txBody>
      </p:sp>
      <p:sp>
        <p:nvSpPr>
          <p:cNvPr id="14" name="page-number-5">
            <a:extLst xmlns:a="http://schemas.openxmlformats.org/drawingml/2006/main">
              <a:ext uri="{FF2B5EF4-FFF2-40B4-BE49-F238E27FC236}">
                <a16:creationId xmlns:a16="http://schemas.microsoft.com/office/drawing/2014/main" id="{87BC2604-E2FB-4DE7-8F38-5C4147C6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524227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3B74E2FF-84DC-4611-B761-566C06FD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实验八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0AB39AB2-ACBF-41C3-B985-25A9D4AB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A1F85E-0F3C-4E05-B7AA-16D5F271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任务A：建立未校正基准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C34190-D959-41A6-9FB6-9353E01A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D919466A-980C-4813-881B-F054B632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3A9ED995-35F7-4C5A-B43A-CB7AF220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选择比例增益使Kᵥ达到1附近。</a:t>
            </a:r>
          </a:p>
        </p:txBody>
      </p:sp>
      <p:sp>
        <p:nvSpPr>
          <p:cNvPr id="7" name="arrow-1">
            <a:extLst xmlns:a="http://schemas.openxmlformats.org/drawingml/2006/main">
              <a:ext uri="{FF2B5EF4-FFF2-40B4-BE49-F238E27FC236}">
                <a16:creationId xmlns:a16="http://schemas.microsoft.com/office/drawing/2014/main" id="{909292C0-757A-4E69-B906-E7093DD2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FBAD81E8-D144-4E0D-8ED2-8A4E52B0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9567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记录未校正系统的GM、PM和交越频率。</a:t>
            </a:r>
          </a:p>
        </p:txBody>
      </p:sp>
      <p:sp>
        <p:nvSpPr>
          <p:cNvPr id="9" name="arrow-2">
            <a:extLst xmlns:a="http://schemas.openxmlformats.org/drawingml/2006/main">
              <a:ext uri="{FF2B5EF4-FFF2-40B4-BE49-F238E27FC236}">
                <a16:creationId xmlns:a16="http://schemas.microsoft.com/office/drawing/2014/main" id="{4F16988B-1E5D-4351-A3D3-BF7D0992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DBDC4783-6A63-4C4B-98A4-091AA8C9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006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计算阶跃超调、调节时间和稳态误差。</a:t>
            </a:r>
          </a:p>
        </p:txBody>
      </p:sp>
      <p:sp>
        <p:nvSpPr>
          <p:cNvPr id="11" name="arrow-3">
            <a:extLst xmlns:a="http://schemas.openxmlformats.org/drawingml/2006/main">
              <a:ext uri="{FF2B5EF4-FFF2-40B4-BE49-F238E27FC236}">
                <a16:creationId xmlns:a16="http://schemas.microsoft.com/office/drawing/2014/main" id="{D9C4802A-4F33-4B76-82A3-04E07EC6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FEB5086A-91A6-4BDC-B463-B028D120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10552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明确最需要改善的指标及可能冲突。</a:t>
            </a:r>
          </a:p>
        </p:txBody>
      </p:sp>
      <p:sp>
        <p:nvSpPr>
          <p:cNvPr id="14" name="page-number-6">
            <a:extLst xmlns:a="http://schemas.openxmlformats.org/drawingml/2006/main">
              <a:ext uri="{FF2B5EF4-FFF2-40B4-BE49-F238E27FC236}">
                <a16:creationId xmlns:a16="http://schemas.microsoft.com/office/drawing/2014/main" id="{5AE1327C-E4E8-4392-BCFB-9DB4FEDD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872412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3B74E2FF-84DC-4611-B761-566C06FD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实验八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0AB39AB2-ACBF-41C3-B985-25A9D4AB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A1F85E-0F3C-4E05-B7AA-16D5F271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任务B：设计超前校正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C34190-D959-41A6-9FB6-9353E01A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D919466A-980C-4813-881B-F054B632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3A9ED995-35F7-4C5A-B43A-CB7AF220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由目标相位裕度估计所需附加相位。</a:t>
            </a:r>
          </a:p>
        </p:txBody>
      </p:sp>
      <p:sp>
        <p:nvSpPr>
          <p:cNvPr id="7" name="arrow-1">
            <a:extLst xmlns:a="http://schemas.openxmlformats.org/drawingml/2006/main">
              <a:ext uri="{FF2B5EF4-FFF2-40B4-BE49-F238E27FC236}">
                <a16:creationId xmlns:a16="http://schemas.microsoft.com/office/drawing/2014/main" id="{909292C0-757A-4E69-B906-E7093DD2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FBAD81E8-D144-4E0D-8ED2-8A4E52B0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9567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选择零点、极点并把最大相位提升放在目标交越频率附近。</a:t>
            </a:r>
          </a:p>
        </p:txBody>
      </p:sp>
      <p:sp>
        <p:nvSpPr>
          <p:cNvPr id="9" name="arrow-2">
            <a:extLst xmlns:a="http://schemas.openxmlformats.org/drawingml/2006/main">
              <a:ext uri="{FF2B5EF4-FFF2-40B4-BE49-F238E27FC236}">
                <a16:creationId xmlns:a16="http://schemas.microsoft.com/office/drawing/2014/main" id="{4F16988B-1E5D-4351-A3D3-BF7D0992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DBDC4783-6A63-4C4B-98A4-091AA8C9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006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调整K后重新计算PM、带宽和阶跃指标。</a:t>
            </a:r>
          </a:p>
        </p:txBody>
      </p:sp>
      <p:sp>
        <p:nvSpPr>
          <p:cNvPr id="11" name="arrow-3">
            <a:extLst xmlns:a="http://schemas.openxmlformats.org/drawingml/2006/main">
              <a:ext uri="{FF2B5EF4-FFF2-40B4-BE49-F238E27FC236}">
                <a16:creationId xmlns:a16="http://schemas.microsoft.com/office/drawing/2014/main" id="{D9C4802A-4F33-4B76-82A3-04E07EC6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FEB5086A-91A6-4BDC-B463-B028D120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10552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至少保留两组候选参数并比较。</a:t>
            </a:r>
          </a:p>
        </p:txBody>
      </p:sp>
      <p:sp>
        <p:nvSpPr>
          <p:cNvPr id="14" name="page-number-7">
            <a:extLst xmlns:a="http://schemas.openxmlformats.org/drawingml/2006/main">
              <a:ext uri="{FF2B5EF4-FFF2-40B4-BE49-F238E27FC236}">
                <a16:creationId xmlns:a16="http://schemas.microsoft.com/office/drawing/2014/main" id="{7B7268C2-3E97-463E-93FD-5C1C5548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872412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3B74E2FF-84DC-4611-B761-566C06FD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实验八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0AB39AB2-ACBF-41C3-B985-25A9D4AB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A1F85E-0F3C-4E05-B7AA-16D5F271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任务C：必要时加入滞后校正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C34190-D959-41A6-9FB6-9353E01A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D919466A-980C-4813-881B-F054B632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3A9ED995-35F7-4C5A-B43A-CB7AF220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若Kᵥ不足，设计低频滞后环节提高稳态精度。</a:t>
            </a:r>
          </a:p>
        </p:txBody>
      </p:sp>
      <p:sp>
        <p:nvSpPr>
          <p:cNvPr id="7" name="arrow-1">
            <a:extLst xmlns:a="http://schemas.openxmlformats.org/drawingml/2006/main">
              <a:ext uri="{FF2B5EF4-FFF2-40B4-BE49-F238E27FC236}">
                <a16:creationId xmlns:a16="http://schemas.microsoft.com/office/drawing/2014/main" id="{909292C0-757A-4E69-B906-E7093DD2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FBAD81E8-D144-4E0D-8ED2-8A4E52B0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9567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将滞后零极点放在交越频率以下。</a:t>
            </a:r>
          </a:p>
        </p:txBody>
      </p:sp>
      <p:sp>
        <p:nvSpPr>
          <p:cNvPr id="9" name="arrow-2">
            <a:extLst xmlns:a="http://schemas.openxmlformats.org/drawingml/2006/main">
              <a:ext uri="{FF2B5EF4-FFF2-40B4-BE49-F238E27FC236}">
                <a16:creationId xmlns:a16="http://schemas.microsoft.com/office/drawing/2014/main" id="{4F16988B-1E5D-4351-A3D3-BF7D0992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DBDC4783-6A63-4C4B-98A4-091AA8C9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006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检查新增环节对PM、带宽和调节时间的影响。</a:t>
            </a:r>
          </a:p>
        </p:txBody>
      </p:sp>
      <p:sp>
        <p:nvSpPr>
          <p:cNvPr id="11" name="arrow-3">
            <a:extLst xmlns:a="http://schemas.openxmlformats.org/drawingml/2006/main">
              <a:ext uri="{FF2B5EF4-FFF2-40B4-BE49-F238E27FC236}">
                <a16:creationId xmlns:a16="http://schemas.microsoft.com/office/drawing/2014/main" id="{D9C4802A-4F33-4B76-82A3-04E07EC6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FEB5086A-91A6-4BDC-B463-B028D120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10552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选择满足指标且不过度复杂的最终方案。</a:t>
            </a:r>
          </a:p>
        </p:txBody>
      </p:sp>
      <p:sp>
        <p:nvSpPr>
          <p:cNvPr id="14" name="page-number-8">
            <a:extLst xmlns:a="http://schemas.openxmlformats.org/drawingml/2006/main">
              <a:ext uri="{FF2B5EF4-FFF2-40B4-BE49-F238E27FC236}">
                <a16:creationId xmlns:a16="http://schemas.microsoft.com/office/drawing/2014/main" id="{C16ACB93-1B43-480A-8116-64F8D8F2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872412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3B74E2FF-84DC-4611-B761-566C06FD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实验八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0AB39AB2-ACBF-41C3-B985-25A9D4AB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A1F85E-0F3C-4E05-B7AA-16D5F271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最终方案必须通过完整验证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C34190-D959-41A6-9FB6-9353E01A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D919466A-980C-4813-881B-F054B632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3A9ED995-35F7-4C5A-B43A-CB7AF220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未校正、超前、超前—滞后三组Bode图。</a:t>
            </a:r>
          </a:p>
        </p:txBody>
      </p:sp>
      <p:sp>
        <p:nvSpPr>
          <p:cNvPr id="7" name="arrow-1">
            <a:extLst xmlns:a="http://schemas.openxmlformats.org/drawingml/2006/main">
              <a:ext uri="{FF2B5EF4-FFF2-40B4-BE49-F238E27FC236}">
                <a16:creationId xmlns:a16="http://schemas.microsoft.com/office/drawing/2014/main" id="{909292C0-757A-4E69-B906-E7093DD2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FBAD81E8-D144-4E0D-8ED2-8A4E52B0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9567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三组闭环阶跃响应与stepinfo表。</a:t>
            </a:r>
          </a:p>
        </p:txBody>
      </p:sp>
      <p:sp>
        <p:nvSpPr>
          <p:cNvPr id="9" name="arrow-2">
            <a:extLst xmlns:a="http://schemas.openxmlformats.org/drawingml/2006/main">
              <a:ext uri="{FF2B5EF4-FFF2-40B4-BE49-F238E27FC236}">
                <a16:creationId xmlns:a16="http://schemas.microsoft.com/office/drawing/2014/main" id="{4F16988B-1E5D-4351-A3D3-BF7D0992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DBDC4783-6A63-4C4B-98A4-091AA8C9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006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Kᵥ、GM、PM、带宽和闭环极点。</a:t>
            </a:r>
          </a:p>
        </p:txBody>
      </p:sp>
      <p:sp>
        <p:nvSpPr>
          <p:cNvPr id="11" name="arrow-3">
            <a:extLst xmlns:a="http://schemas.openxmlformats.org/drawingml/2006/main">
              <a:ext uri="{FF2B5EF4-FFF2-40B4-BE49-F238E27FC236}">
                <a16:creationId xmlns:a16="http://schemas.microsoft.com/office/drawing/2014/main" id="{D9C4802A-4F33-4B76-82A3-04E07EC6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FEB5086A-91A6-4BDC-B463-B028D120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10552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控制器参数、满足指标情况和工程取舍。</a:t>
            </a:r>
          </a:p>
        </p:txBody>
      </p:sp>
      <p:sp>
        <p:nvSpPr>
          <p:cNvPr id="14" name="page-number-9">
            <a:extLst xmlns:a="http://schemas.openxmlformats.org/drawingml/2006/main">
              <a:ext uri="{FF2B5EF4-FFF2-40B4-BE49-F238E27FC236}">
                <a16:creationId xmlns:a16="http://schemas.microsoft.com/office/drawing/2014/main" id="{D6E1160D-EFD3-48C7-BAC0-97B3F91C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872412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C72466BC-2F2E-433D-AA86-9F1C2493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实验八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42422796-8B11-44D8-B643-C00047F6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215088-12B4-4916-B54C-31113124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实验报告应包含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EA92DF72-C987-4486-8872-7ECFF02C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F98FEB63-BC0E-4785-AA3A-1FE168837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C3816F62-C744-469B-9A1B-324BA4D9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设计指标和未校正基准。</a:t>
            </a:r>
          </a:p>
        </p:txBody>
      </p:sp>
      <p:sp>
        <p:nvSpPr>
          <p:cNvPr id="7" name="arrow-1">
            <a:extLst xmlns:a="http://schemas.openxmlformats.org/drawingml/2006/main">
              <a:ext uri="{FF2B5EF4-FFF2-40B4-BE49-F238E27FC236}">
                <a16:creationId xmlns:a16="http://schemas.microsoft.com/office/drawing/2014/main" id="{EF15B4B2-72E6-4AAF-A4DD-9D489D38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8DBF1A82-8881-43B8-AC4F-3A19175D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9567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校正器参数推导与候选方案。</a:t>
            </a:r>
          </a:p>
        </p:txBody>
      </p:sp>
      <p:sp>
        <p:nvSpPr>
          <p:cNvPr id="9" name="arrow-2">
            <a:extLst xmlns:a="http://schemas.openxmlformats.org/drawingml/2006/main">
              <a:ext uri="{FF2B5EF4-FFF2-40B4-BE49-F238E27FC236}">
                <a16:creationId xmlns:a16="http://schemas.microsoft.com/office/drawing/2014/main" id="{D0EF406E-3B9B-4CCF-B19F-21283BC8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AC67FAB3-65E8-40F8-A38E-C1B2D48C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006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频域、时域和稳态精度验证。</a:t>
            </a:r>
          </a:p>
        </p:txBody>
      </p:sp>
      <p:sp>
        <p:nvSpPr>
          <p:cNvPr id="11" name="arrow-3">
            <a:extLst xmlns:a="http://schemas.openxmlformats.org/drawingml/2006/main">
              <a:ext uri="{FF2B5EF4-FFF2-40B4-BE49-F238E27FC236}">
                <a16:creationId xmlns:a16="http://schemas.microsoft.com/office/drawing/2014/main" id="{672BB070-3A0F-43B1-9D46-966528FB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47E79AFB-202E-4A09-882B-236ED98C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10552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最终方案、未满足项与改进建议。</a:t>
            </a:r>
          </a:p>
        </p:txBody>
      </p:sp>
      <p:sp>
        <p:nvSpPr>
          <p:cNvPr id="14" name="page-number-10">
            <a:extLst xmlns:a="http://schemas.openxmlformats.org/drawingml/2006/main">
              <a:ext uri="{FF2B5EF4-FFF2-40B4-BE49-F238E27FC236}">
                <a16:creationId xmlns:a16="http://schemas.microsoft.com/office/drawing/2014/main" id="{BE3310C4-4938-4F43-B8B4-C862F257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452809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3B74E2FF-84DC-4611-B761-566C06FD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实验八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0AB39AB2-ACBF-41C3-B985-25A9D4AB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A1F85E-0F3C-4E05-B7AA-16D5F271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用设计答辩结束本课程实验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C34190-D959-41A6-9FB6-9353E01A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D919466A-980C-4813-881B-F054B632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3A9ED995-35F7-4C5A-B43A-CB7AF220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为什么超前校正通常提高相位裕度和带宽？</a:t>
            </a:r>
          </a:p>
        </p:txBody>
      </p:sp>
      <p:sp>
        <p:nvSpPr>
          <p:cNvPr id="7" name="arrow-1">
            <a:extLst xmlns:a="http://schemas.openxmlformats.org/drawingml/2006/main">
              <a:ext uri="{FF2B5EF4-FFF2-40B4-BE49-F238E27FC236}">
                <a16:creationId xmlns:a16="http://schemas.microsoft.com/office/drawing/2014/main" id="{909292C0-757A-4E69-B906-E7093DD2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FBAD81E8-D144-4E0D-8ED2-8A4E52B0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9567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滞后校正为何要远离目标交越频率？</a:t>
            </a:r>
          </a:p>
        </p:txBody>
      </p:sp>
      <p:sp>
        <p:nvSpPr>
          <p:cNvPr id="9" name="arrow-2">
            <a:extLst xmlns:a="http://schemas.openxmlformats.org/drawingml/2006/main">
              <a:ext uri="{FF2B5EF4-FFF2-40B4-BE49-F238E27FC236}">
                <a16:creationId xmlns:a16="http://schemas.microsoft.com/office/drawing/2014/main" id="{4F16988B-1E5D-4351-A3D3-BF7D0992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DBDC4783-6A63-4C4B-98A4-091AA8C9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006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若指标不能同时满足，应如何说明设计取舍？</a:t>
            </a:r>
          </a:p>
        </p:txBody>
      </p:sp>
      <p:sp>
        <p:nvSpPr>
          <p:cNvPr id="11" name="arrow-3">
            <a:extLst xmlns:a="http://schemas.openxmlformats.org/drawingml/2006/main">
              <a:ext uri="{FF2B5EF4-FFF2-40B4-BE49-F238E27FC236}">
                <a16:creationId xmlns:a16="http://schemas.microsoft.com/office/drawing/2014/main" id="{D9C4802A-4F33-4B76-82A3-04E07EC6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FEB5086A-91A6-4BDC-B463-B028D120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10552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提交脚本、控制器参数、对比图和实验报告。</a:t>
            </a:r>
          </a:p>
        </p:txBody>
      </p:sp>
      <p:sp>
        <p:nvSpPr>
          <p:cNvPr id="14" name="page-number-11">
            <a:extLst xmlns:a="http://schemas.openxmlformats.org/drawingml/2006/main">
              <a:ext uri="{FF2B5EF4-FFF2-40B4-BE49-F238E27FC236}">
                <a16:creationId xmlns:a16="http://schemas.microsoft.com/office/drawing/2014/main" id="{88FDE0EF-9D6D-4596-B7C7-0070C6AC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872412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591C9783-F0DB-4213-9E0C-CA5812A3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实验八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886C1B2-C803-42C1-9271-370192FC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MATLAB 运行结果参考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C3359BF-D3FC-41DA-BDDD-CF01D6E7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673F62-E444-4C46-A259-B0DDA8C825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2c947d7ce94aa0"/>
          <a:stretch xmlns:a="http://schemas.openxmlformats.org/drawingml/2006/main"/>
        </p:blipFill>
        <p:spPr>
          <a:xfrm xmlns:a="http://schemas.openxmlformats.org/drawingml/2006/main">
            <a:off x="1077331" y="1952625"/>
            <a:ext cx="9275338" cy="5667375"/>
          </a:xfrm>
          <a:prstGeom xmlns:a="http://schemas.openxmlformats.org/drawingml/2006/main" prst="rect">
            <a:avLst/>
          </a:prstGeom>
        </p:spPr>
      </p:pic>
      <p:sp>
        <p:nvSpPr>
          <p:cNvPr id="5" name="caption">
            <a:extLst xmlns:a="http://schemas.openxmlformats.org/drawingml/2006/main">
              <a:ext uri="{FF2B5EF4-FFF2-40B4-BE49-F238E27FC236}">
                <a16:creationId xmlns:a16="http://schemas.microsoft.com/office/drawing/2014/main" id="{9FB4C298-BB81-4666-AA24-90121225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此组参数的相位裕度约74.3°，2%调节时间约2.78 s。</a:t>
            </a:r>
          </a:p>
        </p:txBody>
      </p:sp>
      <p:sp>
        <p:nvSpPr>
          <p:cNvPr id="6" name="page-number-12">
            <a:extLst xmlns:a="http://schemas.openxmlformats.org/drawingml/2006/main">
              <a:ext uri="{FF2B5EF4-FFF2-40B4-BE49-F238E27FC236}">
                <a16:creationId xmlns:a16="http://schemas.microsoft.com/office/drawing/2014/main" id="{55BA9197-2AD5-4523-A93C-62C35448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829457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2026-10-22T12:36:50.0950000Z</dcterms:created>
  <dcterms:modified xsi:type="dcterms:W3CDTF">2026-10-22T12:36:50.0950000Z</dcterms:modified>
</coreProperties>
</file>