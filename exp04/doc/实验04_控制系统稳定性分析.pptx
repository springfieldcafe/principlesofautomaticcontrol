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05428c44ba45e0" /><Relationship Type="http://schemas.openxmlformats.org/officeDocument/2006/relationships/extended-properties" Target="/docProps/app.xml" Id="Rf4169cb269894c5d" /><Relationship Type="http://schemas.openxmlformats.org/officeDocument/2006/relationships/officeDocument" Target="/ppt/presentation.xml" Id="Rff4f234e3a044f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b82af0239545b5"/>
  </p:sldMasterIdLst>
  <p:notesMasterIdLst>
    <p:notesMasterId xmlns:r="http://schemas.openxmlformats.org/officeDocument/2006/relationships" r:id="Rf09f598946fe45fb"/>
  </p:notesMasterIdLst>
  <p:sldIdLst>
    <p:sldId xmlns:r="http://schemas.openxmlformats.org/officeDocument/2006/relationships" id="256" r:id="R41385e2de87b42c6"/>
    <p:sldId xmlns:r="http://schemas.openxmlformats.org/officeDocument/2006/relationships" id="257" r:id="Rd51d2caf677d4d44"/>
    <p:sldId xmlns:r="http://schemas.openxmlformats.org/officeDocument/2006/relationships" id="258" r:id="R83367a34f62f4e6b"/>
    <p:sldId xmlns:r="http://schemas.openxmlformats.org/officeDocument/2006/relationships" id="259" r:id="R7b167cfb1ec34a90"/>
    <p:sldId xmlns:r="http://schemas.openxmlformats.org/officeDocument/2006/relationships" id="260" r:id="R7b86f8d8a7334438"/>
    <p:sldId xmlns:r="http://schemas.openxmlformats.org/officeDocument/2006/relationships" id="261" r:id="R1ccda542211d4a3a"/>
    <p:sldId xmlns:r="http://schemas.openxmlformats.org/officeDocument/2006/relationships" id="262" r:id="R0de46f14de90426a"/>
    <p:sldId xmlns:r="http://schemas.openxmlformats.org/officeDocument/2006/relationships" id="263" r:id="R9fb6a33f05e44d84"/>
    <p:sldId xmlns:r="http://schemas.openxmlformats.org/officeDocument/2006/relationships" id="264" r:id="R5e8bb20f5bf14595"/>
    <p:sldId xmlns:r="http://schemas.openxmlformats.org/officeDocument/2006/relationships" id="265" r:id="R87c5c6b89cf14b5d"/>
    <p:sldId xmlns:r="http://schemas.openxmlformats.org/officeDocument/2006/relationships" id="266" r:id="Rc8b221c82f274649"/>
    <p:sldId xmlns:r="http://schemas.openxmlformats.org/officeDocument/2006/relationships" id="267" r:id="R5a6bd9aabd914f36"/>
  </p:sldIdLst>
  <p:sldSz cx="1143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c9014869c541e5" /><Relationship Type="http://schemas.openxmlformats.org/officeDocument/2006/relationships/slideMaster" Target="/ppt/slideMasters/slideMaster1.xml" Id="R30b82af0239545b5" /><Relationship Type="http://schemas.openxmlformats.org/officeDocument/2006/relationships/notesMaster" Target="/ppt/notesMasters/notesMaster1.xml" Id="Rf09f598946fe45fb" /><Relationship Type="http://schemas.openxmlformats.org/officeDocument/2006/relationships/presProps" Target="/ppt/presProps.xml" Id="Rf5665bf56ece43c9" /><Relationship Type="http://schemas.openxmlformats.org/officeDocument/2006/relationships/tableStyles" Target="/ppt/tableStyles.xml" Id="Rc0bd7894a80d4994" /><Relationship Type="http://schemas.openxmlformats.org/officeDocument/2006/relationships/slide" Target="/ppt/slides/slide1.xml" Id="R41385e2de87b42c6" /><Relationship Type="http://schemas.openxmlformats.org/officeDocument/2006/relationships/slide" Target="/ppt/slides/slide2.xml" Id="Rd51d2caf677d4d44" /><Relationship Type="http://schemas.openxmlformats.org/officeDocument/2006/relationships/slide" Target="/ppt/slides/slide3.xml" Id="R83367a34f62f4e6b" /><Relationship Type="http://schemas.openxmlformats.org/officeDocument/2006/relationships/slide" Target="/ppt/slides/slide4.xml" Id="R7b167cfb1ec34a90" /><Relationship Type="http://schemas.openxmlformats.org/officeDocument/2006/relationships/slide" Target="/ppt/slides/slide5.xml" Id="R7b86f8d8a7334438" /><Relationship Type="http://schemas.openxmlformats.org/officeDocument/2006/relationships/slide" Target="/ppt/slides/slide6.xml" Id="R1ccda542211d4a3a" /><Relationship Type="http://schemas.openxmlformats.org/officeDocument/2006/relationships/slide" Target="/ppt/slides/slide7.xml" Id="R0de46f14de90426a" /><Relationship Type="http://schemas.openxmlformats.org/officeDocument/2006/relationships/slide" Target="/ppt/slides/slide8.xml" Id="R9fb6a33f05e44d84" /><Relationship Type="http://schemas.openxmlformats.org/officeDocument/2006/relationships/slide" Target="/ppt/slides/slide9.xml" Id="R5e8bb20f5bf14595" /><Relationship Type="http://schemas.openxmlformats.org/officeDocument/2006/relationships/slide" Target="/ppt/slides/slide10.xml" Id="R87c5c6b89cf14b5d" /><Relationship Type="http://schemas.openxmlformats.org/officeDocument/2006/relationships/slide" Target="/ppt/slides/slide11.xml" Id="Rc8b221c82f274649" /><Relationship Type="http://schemas.openxmlformats.org/officeDocument/2006/relationships/slide" Target="/ppt/slides/slide12.xml" Id="R5a6bd9aabd914f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e47ac3d93842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f71ba7ae8f4182" /><Relationship Type="http://schemas.openxmlformats.org/officeDocument/2006/relationships/notesMaster" Target="/ppt/notesMasters/notesMaster1.xml" Id="Rca7bc4df46e848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50630332314b53" /><Relationship Type="http://schemas.openxmlformats.org/officeDocument/2006/relationships/notesMaster" Target="/ppt/notesMasters/notesMaster1.xml" Id="R4eacd2101b1840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539760781c4650" /><Relationship Type="http://schemas.openxmlformats.org/officeDocument/2006/relationships/notesMaster" Target="/ppt/notesMasters/notesMaster1.xml" Id="R1a7e6541d71242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a398171c1a4df4" /><Relationship Type="http://schemas.openxmlformats.org/officeDocument/2006/relationships/notesMaster" Target="/ppt/notesMasters/notesMaster1.xml" Id="Rb2e45357c3a04a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a7a72c5d8f40f7" /><Relationship Type="http://schemas.openxmlformats.org/officeDocument/2006/relationships/notesMaster" Target="/ppt/notesMasters/notesMaster1.xml" Id="R9005156b33204f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1798b655554f6a" /><Relationship Type="http://schemas.openxmlformats.org/officeDocument/2006/relationships/notesMaster" Target="/ppt/notesMasters/notesMaster1.xml" Id="R3809378f826344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06df892156455b" /><Relationship Type="http://schemas.openxmlformats.org/officeDocument/2006/relationships/notesMaster" Target="/ppt/notesMasters/notesMaster1.xml" Id="R895b5f3df00541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0916a124834e44" /><Relationship Type="http://schemas.openxmlformats.org/officeDocument/2006/relationships/notesMaster" Target="/ppt/notesMasters/notesMaster1.xml" Id="Rf5f7f690c21e46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4b1e65d7464f16" /><Relationship Type="http://schemas.openxmlformats.org/officeDocument/2006/relationships/notesMaster" Target="/ppt/notesMasters/notesMaster1.xml" Id="R1d5481e69a7946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c1ad9e4c794c4c" /><Relationship Type="http://schemas.openxmlformats.org/officeDocument/2006/relationships/notesMaster" Target="/ppt/notesMasters/notesMaster1.xml" Id="R03cd37bc4171426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cbde1802ba14fd7" /><Relationship Type="http://schemas.openxmlformats.org/officeDocument/2006/relationships/notesMaster" Target="/ppt/notesMasters/notesMaster1.xml" Id="Rb359388d91ef499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bfb634537474c1a" /><Relationship Type="http://schemas.openxmlformats.org/officeDocument/2006/relationships/notesMaster" Target="/ppt/notesMasters/notesMaster1.xml" Id="R189d985cde204d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E:\上课\自动控制原理\RichardC.DorfRobertH.Bishop-ModernControlSystems13thEd.-Pearson2017.pdf，PDF第398—426页</a:t>
            </a:r>
          </a:p>
          <a:p xmlns:a="http://schemas.openxmlformats.org/drawingml/2006/main">
            <a:r>
              <a:t>- E:\上课\自动控制原理\现代控制系统 第十3版_15244176.pdf，PDF第310—331页</a:t>
            </a:r>
          </a:p>
          <a:p xmlns:a="http://schemas.openxmlformats.org/drawingml/2006/main">
            <a:r>
              <a:t>- E:\上课\自动控制原理\自动控制原理（双语）教学大纲（2024版）-人工智能.docx，实验4</a:t>
            </a:r>
          </a:p>
          <a:p xmlns:a="http://schemas.openxmlformats.org/drawingml/2006/main">
            <a:r>
              <a:t>- E:\上课\自动控制原理\《现代控制系统》中科大课堂配套PPT.pdf，稳定性分析相关内容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本页属于实验四 · 2学时，第1页。命令以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E:\上课\自动控制原理\RichardC.DorfRobertH.Bishop-ModernControlSystems13thEd.-Pearson2017.pdf，PDF第398—426页</a:t>
            </a:r>
          </a:p>
          <a:p xmlns:a="http://schemas.openxmlformats.org/drawingml/2006/main">
            <a:r>
              <a:t>- E:\上课\自动控制原理\现代控制系统 第十3版_15244176.pdf，PDF第310—331页</a:t>
            </a:r>
          </a:p>
          <a:p xmlns:a="http://schemas.openxmlformats.org/drawingml/2006/main">
            <a:r>
              <a:t>- E:\上课\自动控制原理\自动控制原理（双语）教学大纲（2024版）-人工智能.docx，实验4</a:t>
            </a:r>
          </a:p>
          <a:p xmlns:a="http://schemas.openxmlformats.org/drawingml/2006/main">
            <a:r>
              <a:t>- E:\上课\自动控制原理\《现代控制系统》中科大课堂配套PPT.pdf，稳定性分析相关内容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本页属于实验四 · 2学时，第2页。命令以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E:\上课\自动控制原理\RichardC.DorfRobertH.Bishop-ModernControlSystems13thEd.-Pearson2017.pdf，PDF第398—426页</a:t>
            </a:r>
          </a:p>
          <a:p xmlns:a="http://schemas.openxmlformats.org/drawingml/2006/main">
            <a:r>
              <a:t>- E:\上课\自动控制原理\现代控制系统 第十3版_15244176.pdf，PDF第310—331页</a:t>
            </a:r>
          </a:p>
          <a:p xmlns:a="http://schemas.openxmlformats.org/drawingml/2006/main">
            <a:r>
              <a:t>- E:\上课\自动控制原理\自动控制原理（双语）教学大纲（2024版）-人工智能.docx，实验4</a:t>
            </a:r>
          </a:p>
          <a:p xmlns:a="http://schemas.openxmlformats.org/drawingml/2006/main">
            <a:r>
              <a:t>- E:\上课\自动控制原理\《现代控制系统》中科大课堂配套PPT.pdf，稳定性分析相关内容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本页属于实验四 · 2学时，第3页。命令以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E:\上课\自动控制原理\RichardC.DorfRobertH.Bishop-ModernControlSystems13thEd.-Pearson2017.pdf，PDF第398—426页</a:t>
            </a:r>
          </a:p>
          <a:p xmlns:a="http://schemas.openxmlformats.org/drawingml/2006/main">
            <a:r>
              <a:t>- E:\上课\自动控制原理\现代控制系统 第十3版_15244176.pdf，PDF第310—331页</a:t>
            </a:r>
          </a:p>
          <a:p xmlns:a="http://schemas.openxmlformats.org/drawingml/2006/main">
            <a:r>
              <a:t>- E:\上课\自动控制原理\自动控制原理（双语）教学大纲（2024版）-人工智能.docx，实验4</a:t>
            </a:r>
          </a:p>
          <a:p xmlns:a="http://schemas.openxmlformats.org/drawingml/2006/main">
            <a:r>
              <a:t>- E:\上课\自动控制原理\《现代控制系统》中科大课堂配套PPT.pdf，稳定性分析相关内容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本页属于实验四 · 2学时，第4页。命令以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E:\上课\自动控制原理\RichardC.DorfRobertH.Bishop-ModernControlSystems13thEd.-Pearson2017.pdf，PDF第398—426页</a:t>
            </a:r>
          </a:p>
          <a:p xmlns:a="http://schemas.openxmlformats.org/drawingml/2006/main">
            <a:r>
              <a:t>- E:\上课\自动控制原理\现代控制系统 第十3版_15244176.pdf，PDF第310—331页</a:t>
            </a:r>
          </a:p>
          <a:p xmlns:a="http://schemas.openxmlformats.org/drawingml/2006/main">
            <a:r>
              <a:t>- E:\上课\自动控制原理\自动控制原理（双语）教学大纲（2024版）-人工智能.docx，实验4</a:t>
            </a:r>
          </a:p>
          <a:p xmlns:a="http://schemas.openxmlformats.org/drawingml/2006/main">
            <a:r>
              <a:t>- E:\上课\自动控制原理\《现代控制系统》中科大课堂配套PPT.pdf，稳定性分析相关内容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本页属于实验四 · 2学时，第5页。命令以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E:\上课\自动控制原理\RichardC.DorfRobertH.Bishop-ModernControlSystems13thEd.-Pearson2017.pdf，PDF第398—426页</a:t>
            </a:r>
          </a:p>
          <a:p xmlns:a="http://schemas.openxmlformats.org/drawingml/2006/main">
            <a:r>
              <a:t>- E:\上课\自动控制原理\现代控制系统 第十3版_15244176.pdf，PDF第310—331页</a:t>
            </a:r>
          </a:p>
          <a:p xmlns:a="http://schemas.openxmlformats.org/drawingml/2006/main">
            <a:r>
              <a:t>- E:\上课\自动控制原理\自动控制原理（双语）教学大纲（2024版）-人工智能.docx，实验4</a:t>
            </a:r>
          </a:p>
          <a:p xmlns:a="http://schemas.openxmlformats.org/drawingml/2006/main">
            <a:r>
              <a:t>- E:\上课\自动控制原理\《现代控制系统》中科大课堂配套PPT.pdf，稳定性分析相关内容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本页属于实验四 · 2学时，第6页。命令以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E:\上课\自动控制原理\RichardC.DorfRobertH.Bishop-ModernControlSystems13thEd.-Pearson2017.pdf，PDF第398—426页</a:t>
            </a:r>
          </a:p>
          <a:p xmlns:a="http://schemas.openxmlformats.org/drawingml/2006/main">
            <a:r>
              <a:t>- E:\上课\自动控制原理\现代控制系统 第十3版_15244176.pdf，PDF第310—331页</a:t>
            </a:r>
          </a:p>
          <a:p xmlns:a="http://schemas.openxmlformats.org/drawingml/2006/main">
            <a:r>
              <a:t>- E:\上课\自动控制原理\自动控制原理（双语）教学大纲（2024版）-人工智能.docx，实验4</a:t>
            </a:r>
          </a:p>
          <a:p xmlns:a="http://schemas.openxmlformats.org/drawingml/2006/main">
            <a:r>
              <a:t>- E:\上课\自动控制原理\《现代控制系统》中科大课堂配套PPT.pdf，稳定性分析相关内容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本页属于实验四 · 2学时，第7页。命令以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E:\上课\自动控制原理\RichardC.DorfRobertH.Bishop-ModernControlSystems13thEd.-Pearson2017.pdf，PDF第398—426页</a:t>
            </a:r>
          </a:p>
          <a:p xmlns:a="http://schemas.openxmlformats.org/drawingml/2006/main">
            <a:r>
              <a:t>- E:\上课\自动控制原理\现代控制系统 第十3版_15244176.pdf，PDF第310—331页</a:t>
            </a:r>
          </a:p>
          <a:p xmlns:a="http://schemas.openxmlformats.org/drawingml/2006/main">
            <a:r>
              <a:t>- E:\上课\自动控制原理\自动控制原理（双语）教学大纲（2024版）-人工智能.docx，实验4</a:t>
            </a:r>
          </a:p>
          <a:p xmlns:a="http://schemas.openxmlformats.org/drawingml/2006/main">
            <a:r>
              <a:t>- E:\上课\自动控制原理\《现代控制系统》中科大课堂配套PPT.pdf，稳定性分析相关内容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本页属于实验四 · 2学时，第8页。命令以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E:\上课\自动控制原理\RichardC.DorfRobertH.Bishop-ModernControlSystems13thEd.-Pearson2017.pdf，PDF第398—426页</a:t>
            </a:r>
          </a:p>
          <a:p xmlns:a="http://schemas.openxmlformats.org/drawingml/2006/main">
            <a:r>
              <a:t>- E:\上课\自动控制原理\现代控制系统 第十3版_15244176.pdf，PDF第310—331页</a:t>
            </a:r>
          </a:p>
          <a:p xmlns:a="http://schemas.openxmlformats.org/drawingml/2006/main">
            <a:r>
              <a:t>- E:\上课\自动控制原理\自动控制原理（双语）教学大纲（2024版）-人工智能.docx，实验4</a:t>
            </a:r>
          </a:p>
          <a:p xmlns:a="http://schemas.openxmlformats.org/drawingml/2006/main">
            <a:r>
              <a:t>- E:\上课\自动控制原理\《现代控制系统》中科大课堂配套PPT.pdf，稳定性分析相关内容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本页属于实验四 · 2学时，第9页。命令以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E:\上课\自动控制原理\RichardC.DorfRobertH.Bishop-ModernControlSystems13thEd.-Pearson2017.pdf，PDF第398—426页</a:t>
            </a:r>
          </a:p>
          <a:p xmlns:a="http://schemas.openxmlformats.org/drawingml/2006/main">
            <a:r>
              <a:t>- E:\上课\自动控制原理\现代控制系统 第十3版_15244176.pdf，PDF第310—331页</a:t>
            </a:r>
          </a:p>
          <a:p xmlns:a="http://schemas.openxmlformats.org/drawingml/2006/main">
            <a:r>
              <a:t>- E:\上课\自动控制原理\自动控制原理（双语）教学大纲（2024版）-人工智能.docx，实验4</a:t>
            </a:r>
          </a:p>
          <a:p xmlns:a="http://schemas.openxmlformats.org/drawingml/2006/main">
            <a:r>
              <a:t>- E:\上课\自动控制原理\《现代控制系统》中科大课堂配套PPT.pdf，稳定性分析相关内容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本页属于实验四 · 2学时，第10页。命令以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E:\上课\自动控制原理\RichardC.DorfRobertH.Bishop-ModernControlSystems13thEd.-Pearson2017.pdf，PDF第398—426页</a:t>
            </a:r>
          </a:p>
          <a:p xmlns:a="http://schemas.openxmlformats.org/drawingml/2006/main">
            <a:r>
              <a:t>- E:\上课\自动控制原理\现代控制系统 第十3版_15244176.pdf，PDF第310—331页</a:t>
            </a:r>
          </a:p>
          <a:p xmlns:a="http://schemas.openxmlformats.org/drawingml/2006/main">
            <a:r>
              <a:t>- E:\上课\自动控制原理\自动控制原理（双语）教学大纲（2024版）-人工智能.docx，实验4</a:t>
            </a:r>
          </a:p>
          <a:p xmlns:a="http://schemas.openxmlformats.org/drawingml/2006/main">
            <a:r>
              <a:t>- E:\上课\自动控制原理\《现代控制系统》中科大课堂配套PPT.pdf，稳定性分析相关内容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[授课提示]</a:t>
            </a:r>
          </a:p>
          <a:p xmlns:a="http://schemas.openxmlformats.org/drawingml/2006/main">
            <a:r>
              <a:t>本页属于实验四 · 2学时，第11页。命令以 MATLAB / Control System Toolbox 为例。</a:t>
            </a:r>
          </a:p>
          <a:p xmlns:a="http://schemas.openxmlformats.org/drawingml/2006/main">
            <a:r>
              <a:t>本版公式由 MATLAB LaTeX 引擎渲染为PNG。正文和代码保持可编辑。</a:t>
            </a:r>
          </a:p>
          <a:p xmlns:a="http://schemas.openxmlformats.org/drawingml/2006/main">
            <a:r>
              <a:t>复现文件：F:\codex\slides_generation\tmp\labs_formula_20261022\render_lab_assets.m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实际运行截图。MATLAB R2025b。数据来源：本实验原有模型。</a:t>
            </a:r>
          </a:p>
          <a:p xmlns:a="http://schemas.openxmlformats.org/drawingml/2006/main">
            <a:r>
              <a:t>图形：F:\codex\slides_generation\tmp\labs_formula_20261022\assets\lab04.fig</a:t>
            </a:r>
          </a:p>
          <a:p xmlns:a="http://schemas.openxmlformats.org/drawingml/2006/main">
            <a:r>
              <a:t>复现：render_lab_assets.m 和 show_lab_figures.m。</a:t>
            </a:r>
          </a:p>
          <a:p xmlns:a="http://schemas.openxmlformats.org/drawingml/2006/main">
            <a:r>
              <a:t>实验08示例控制器：C(s)=60(s+2)/(s+12)，用于对照，并非唯一解。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0438b281544e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61572b41f64f1d" /><Relationship Type="http://schemas.openxmlformats.org/officeDocument/2006/relationships/slideLayout" Target="/ppt/slideLayouts/slideLayout1.xml" Id="R783337f019724a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3337f019724a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59c2e10aaa4387" /><Relationship Type="http://schemas.openxmlformats.org/officeDocument/2006/relationships/notesSlide" Target="/ppt/notesSlides/notesSlide1.xml" Id="Rc4465f130cb44e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e77253fa94f67" /><Relationship Type="http://schemas.openxmlformats.org/officeDocument/2006/relationships/notesSlide" Target="/ppt/notesSlides/notesSlide2.xml" Id="Rae681a45d1ca41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1c175aa154af6" /><Relationship Type="http://schemas.openxmlformats.org/officeDocument/2006/relationships/image" Target="/ppt/media/image.png" Id="Re594c21c2b574453" /><Relationship Type="http://schemas.openxmlformats.org/officeDocument/2006/relationships/notesSlide" Target="/ppt/notesSlides/notesSlide3.xml" Id="Rb19c611c439044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94f20aa522483e" /><Relationship Type="http://schemas.openxmlformats.org/officeDocument/2006/relationships/image" Target="/ppt/media/image2.png" Id="R1da8e1039a254da1" /><Relationship Type="http://schemas.openxmlformats.org/officeDocument/2006/relationships/notesSlide" Target="/ppt/notesSlides/notesSlide4.xml" Id="R58cefd173b4e4f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c6b788048c4189" /><Relationship Type="http://schemas.openxmlformats.org/officeDocument/2006/relationships/notesSlide" Target="/ppt/notesSlides/notesSlide5.xml" Id="R00df2168035941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3f1c4ac7ea450f" /><Relationship Type="http://schemas.openxmlformats.org/officeDocument/2006/relationships/notesSlide" Target="/ppt/notesSlides/notesSlide6.xml" Id="R2bb6ce2e2d6943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992aa923804d1d" /><Relationship Type="http://schemas.openxmlformats.org/officeDocument/2006/relationships/notesSlide" Target="/ppt/notesSlides/notesSlide7.xml" Id="R173450624d3641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bae72d3a7497e" /><Relationship Type="http://schemas.openxmlformats.org/officeDocument/2006/relationships/notesSlide" Target="/ppt/notesSlides/notesSlide8.xml" Id="R5a6e70fec4b641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9c5badb5724dc1" /><Relationship Type="http://schemas.openxmlformats.org/officeDocument/2006/relationships/notesSlide" Target="/ppt/notesSlides/notesSlide9.xml" Id="R39f36a530dad4e9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bedae7e944635" /><Relationship Type="http://schemas.openxmlformats.org/officeDocument/2006/relationships/notesSlide" Target="/ppt/notesSlides/notesSlide10.xml" Id="Ra465e9781194429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81fa4afcd4cf4" /><Relationship Type="http://schemas.openxmlformats.org/officeDocument/2006/relationships/notesSlide" Target="/ppt/notesSlides/notesSlide11.xml" Id="R7e03cf6ba17a42c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355c8946f4dfc" /><Relationship Type="http://schemas.openxmlformats.org/officeDocument/2006/relationships/image" Target="/ppt/media/image.jpeg" Id="R3d7ca41e512b4689" /><Relationship Type="http://schemas.openxmlformats.org/officeDocument/2006/relationships/notesSlide" Target="/ppt/notesSlides/notesSlide12.xml" Id="R8a2347aaff5e4c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d-band">
            <a:extLst xmlns:a="http://schemas.openxmlformats.org/drawingml/2006/main">
              <a:ext uri="{FF2B5EF4-FFF2-40B4-BE49-F238E27FC236}">
                <a16:creationId xmlns:a16="http://schemas.microsoft.com/office/drawing/2014/main" id="{A4E0CA20-92FE-4A8B-9A6C-83801661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89F71EED-B54F-42EA-8521-B576F535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实验四</a:t>
            </a:r>
          </a:p>
        </p:txBody>
      </p:sp>
      <p:sp>
        <p:nvSpPr>
          <p:cNvPr id="3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CB8ED9D1-230E-4E8D-993B-7AB67DDB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971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控制系统稳定性分析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8894FA42-3F20-45F5-8197-AE50BCEF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劳斯判据、闭环极点与参数稳定域</a:t>
            </a:r>
          </a:p>
        </p:txBody>
      </p:sp>
      <p:sp>
        <p:nvSpPr>
          <p:cNvPr id="6" name="page-number-1">
            <a:extLst xmlns:a="http://schemas.openxmlformats.org/drawingml/2006/main">
              <a:ext uri="{FF2B5EF4-FFF2-40B4-BE49-F238E27FC236}">
                <a16:creationId xmlns:a16="http://schemas.microsoft.com/office/drawing/2014/main" id="{13971322-A947-4953-84D9-3E10933E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263890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3B74E2FF-84DC-4611-B761-566C06FD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实验四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0AB39AB2-ACBF-41C3-B985-25A9D4A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A1F85E-0F3C-4E05-B7AA-16D5F27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本次实验用三种证据判断稳定性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C34190-D959-41A6-9FB6-9353E01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D919466A-980C-4813-881B-F054B63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3A9ED995-35F7-4C5A-B43A-CB7AF22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由劳斯表推导含参数系统的理论稳定范围。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909292C0-757A-4E69-B906-E7093DD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BAD81E8-D144-4E0D-8ED2-8A4E52B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用roots和pole直接验证右半平面根数。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4F16988B-1E5D-4351-A3D3-BF7D0992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BDC4783-6A63-4C4B-98A4-091AA8C9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用时域响应区分稳定、临界稳定和不稳定。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D9C4802A-4F33-4B76-82A3-04E07EC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24450"/>
            <a:ext cx="342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C00000"/>
                </a:solidFill>
              </a:defRPr>
            </a:pPr>
            <a:r>
              <a:rPr sz="1650" b="1">
                <a:solidFill>
                  <a:srgbClr val="C00000"/>
                </a:solidFill>
              </a:rPr>
              <a:t/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EB5086A-91A6-4BDC-B463-B028D12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05400"/>
            <a:ext cx="952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111111"/>
                </a:solidFill>
              </a:defRPr>
            </a:pPr>
            <a:r>
              <a:rPr sz="2025">
                <a:solidFill>
                  <a:srgbClr val="111111"/>
                </a:solidFill>
              </a:rPr>
              <a:t/>
            </a:r>
          </a:p>
        </p:txBody>
      </p:sp>
      <p:sp>
        <p:nvSpPr>
          <p:cNvPr id="14" name="page-number-2">
            <a:extLst xmlns:a="http://schemas.openxmlformats.org/drawingml/2006/main">
              <a:ext uri="{FF2B5EF4-FFF2-40B4-BE49-F238E27FC236}">
                <a16:creationId xmlns:a16="http://schemas.microsoft.com/office/drawing/2014/main" id="{D6940684-9DAA-483F-9DCB-0B9A79E6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872412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C042BF93-C5B8-4745-A9D8-58208EA5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实验四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35D05F74-83CA-4E61-AFEB-BDD84A9F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398E99-95B0-45CD-BBA4-1A125C76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实验对象：含增益参数的三阶闭环系统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1559CDB-EF92-45FC-8565-65BF9600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formula-panel">
            <a:extLst xmlns:a="http://schemas.openxmlformats.org/drawingml/2006/main">
              <a:ext uri="{FF2B5EF4-FFF2-40B4-BE49-F238E27FC236}">
                <a16:creationId xmlns:a16="http://schemas.microsoft.com/office/drawing/2014/main" id="{9C57A23E-994F-4C41-B15A-CF67B2F6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9906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7E6E6"/>
            </a:solidFill>
            <a:prstDash val="solid"/>
          </a:ln>
        </p:spPr>
      </p:sp>
      <p:sp>
        <p:nvSpPr>
          <p:cNvPr id="6" name="formula">
            <a:extLst xmlns:a="http://schemas.openxmlformats.org/drawingml/2006/main">
              <a:ext uri="{FF2B5EF4-FFF2-40B4-BE49-F238E27FC236}">
                <a16:creationId xmlns:a16="http://schemas.microsoft.com/office/drawing/2014/main" id="{0A416605-238B-4E80-B8F6-84CA978B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62200"/>
            <a:ext cx="8953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0">
                <a:solidFill>
                  <a:srgbClr val="111111"/>
                </a:solidFill>
              </a:defRPr>
            </a:pPr>
            <a:r>
              <a:rPr sz="2250" b="0">
                <a:solidFill>
                  <a:srgbClr val="111111"/>
                </a:solidFill>
              </a:rPr>
              <a:t/>
            </a:r>
          </a:p>
        </p:txBody>
      </p:sp>
      <p:sp>
        <p:nvSpPr>
          <p:cNvPr id="7" name="arrow-0">
            <a:extLst xmlns:a="http://schemas.openxmlformats.org/drawingml/2006/main">
              <a:ext uri="{FF2B5EF4-FFF2-40B4-BE49-F238E27FC236}">
                <a16:creationId xmlns:a16="http://schemas.microsoft.com/office/drawing/2014/main" id="{E0E05D2D-C31D-466A-B37A-E8E8B283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0">
            <a:extLst xmlns:a="http://schemas.openxmlformats.org/drawingml/2006/main">
              <a:ext uri="{FF2B5EF4-FFF2-40B4-BE49-F238E27FC236}">
                <a16:creationId xmlns:a16="http://schemas.microsoft.com/office/drawing/2014/main" id="{6ECCF8CF-C11F-48A5-ABAE-ADAF282B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19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先检查系数同号这一必要条件。</a:t>
            </a:r>
          </a:p>
        </p:txBody>
      </p:sp>
      <p:sp>
        <p:nvSpPr>
          <p:cNvPr id="9" name="arrow-1">
            <a:extLst xmlns:a="http://schemas.openxmlformats.org/drawingml/2006/main">
              <a:ext uri="{FF2B5EF4-FFF2-40B4-BE49-F238E27FC236}">
                <a16:creationId xmlns:a16="http://schemas.microsoft.com/office/drawing/2014/main" id="{E5CB4618-0281-41DB-BEDA-5405600A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675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F5EADACD-D293-465B-B1BB-705E1A7D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4389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再由劳斯第一列得到K的稳定范围。</a:t>
            </a:r>
          </a:p>
        </p:txBody>
      </p:sp>
      <p:sp>
        <p:nvSpPr>
          <p:cNvPr id="11" name="arrow-2">
            <a:extLst xmlns:a="http://schemas.openxmlformats.org/drawingml/2006/main">
              <a:ext uri="{FF2B5EF4-FFF2-40B4-BE49-F238E27FC236}">
                <a16:creationId xmlns:a16="http://schemas.microsoft.com/office/drawing/2014/main" id="{E3CC01DA-8409-421E-9078-F85B9DDF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866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2">
            <a:extLst xmlns:a="http://schemas.openxmlformats.org/drawingml/2006/main">
              <a:ext uri="{FF2B5EF4-FFF2-40B4-BE49-F238E27FC236}">
                <a16:creationId xmlns:a16="http://schemas.microsoft.com/office/drawing/2014/main" id="{F1F7B91A-8030-4F9F-BB29-F9BFA017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580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选择边界两侧的参数进行软件验证。</a:t>
            </a:r>
          </a:p>
        </p:txBody>
      </p:sp>
      <p:sp>
        <p:nvSpPr>
          <p:cNvPr id="14" name="page-number-3">
            <a:extLst xmlns:a="http://schemas.openxmlformats.org/drawingml/2006/main">
              <a:ext uri="{FF2B5EF4-FFF2-40B4-BE49-F238E27FC236}">
                <a16:creationId xmlns:a16="http://schemas.microsoft.com/office/drawing/2014/main" id="{ECADC736-D5E6-452B-B272-3797176F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01D3BC-5446-4D4C-A7C8-1C8F6C6526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94c21c2b574453"/>
          <a:stretch xmlns:a="http://schemas.openxmlformats.org/drawingml/2006/main"/>
        </p:blipFill>
        <p:spPr>
          <a:xfrm xmlns:a="http://schemas.openxmlformats.org/drawingml/2006/main">
            <a:off x="1492724" y="2143125"/>
            <a:ext cx="8444552" cy="3143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1091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C042BF93-C5B8-4745-A9D8-58208EA5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实验四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35D05F74-83CA-4E61-AFEB-BDD84A9F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398E99-95B0-45CD-BBA4-1A125C76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理论稳定范围给出可验证假设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1559CDB-EF92-45FC-8565-65BF9600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formula-panel">
            <a:extLst xmlns:a="http://schemas.openxmlformats.org/drawingml/2006/main">
              <a:ext uri="{FF2B5EF4-FFF2-40B4-BE49-F238E27FC236}">
                <a16:creationId xmlns:a16="http://schemas.microsoft.com/office/drawing/2014/main" id="{9C57A23E-994F-4C41-B15A-CF67B2F6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9906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7E6E6"/>
            </a:solidFill>
            <a:prstDash val="solid"/>
          </a:ln>
        </p:spPr>
      </p:sp>
      <p:sp>
        <p:nvSpPr>
          <p:cNvPr id="6" name="formula">
            <a:extLst xmlns:a="http://schemas.openxmlformats.org/drawingml/2006/main">
              <a:ext uri="{FF2B5EF4-FFF2-40B4-BE49-F238E27FC236}">
                <a16:creationId xmlns:a16="http://schemas.microsoft.com/office/drawing/2014/main" id="{0A416605-238B-4E80-B8F6-84CA978B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62200"/>
            <a:ext cx="8953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0">
                <a:solidFill>
                  <a:srgbClr val="111111"/>
                </a:solidFill>
              </a:defRPr>
            </a:pPr>
            <a:r>
              <a:rPr sz="2250" b="0">
                <a:solidFill>
                  <a:srgbClr val="111111"/>
                </a:solidFill>
              </a:rPr>
              <a:t/>
            </a:r>
          </a:p>
        </p:txBody>
      </p:sp>
      <p:sp>
        <p:nvSpPr>
          <p:cNvPr id="7" name="arrow-0">
            <a:extLst xmlns:a="http://schemas.openxmlformats.org/drawingml/2006/main">
              <a:ext uri="{FF2B5EF4-FFF2-40B4-BE49-F238E27FC236}">
                <a16:creationId xmlns:a16="http://schemas.microsoft.com/office/drawing/2014/main" id="{E0E05D2D-C31D-466A-B37A-E8E8B283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0">
            <a:extLst xmlns:a="http://schemas.openxmlformats.org/drawingml/2006/main">
              <a:ext uri="{FF2B5EF4-FFF2-40B4-BE49-F238E27FC236}">
                <a16:creationId xmlns:a16="http://schemas.microsoft.com/office/drawing/2014/main" id="{6ECCF8CF-C11F-48A5-ABAE-ADAF282B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19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K取6时出现一对虚轴单根，须结合根的重数判稳。</a:t>
            </a:r>
          </a:p>
        </p:txBody>
      </p:sp>
      <p:sp>
        <p:nvSpPr>
          <p:cNvPr id="9" name="arrow-1">
            <a:extLst xmlns:a="http://schemas.openxmlformats.org/drawingml/2006/main">
              <a:ext uri="{FF2B5EF4-FFF2-40B4-BE49-F238E27FC236}">
                <a16:creationId xmlns:a16="http://schemas.microsoft.com/office/drawing/2014/main" id="{E5CB4618-0281-41DB-BEDA-5405600A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675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F5EADACD-D293-465B-B1BB-705E1A7D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4389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K&gt;6时第一列出现符号变化。</a:t>
            </a:r>
          </a:p>
        </p:txBody>
      </p:sp>
      <p:sp>
        <p:nvSpPr>
          <p:cNvPr id="11" name="arrow-2">
            <a:extLst xmlns:a="http://schemas.openxmlformats.org/drawingml/2006/main">
              <a:ext uri="{FF2B5EF4-FFF2-40B4-BE49-F238E27FC236}">
                <a16:creationId xmlns:a16="http://schemas.microsoft.com/office/drawing/2014/main" id="{E3CC01DA-8409-421E-9078-F85B9DDF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866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2">
            <a:extLst xmlns:a="http://schemas.openxmlformats.org/drawingml/2006/main">
              <a:ext uri="{FF2B5EF4-FFF2-40B4-BE49-F238E27FC236}">
                <a16:creationId xmlns:a16="http://schemas.microsoft.com/office/drawing/2014/main" id="{F1F7B91A-8030-4F9F-BB29-F9BFA017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580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软件计算不能替代理论推导。</a:t>
            </a:r>
          </a:p>
        </p:txBody>
      </p:sp>
      <p:sp>
        <p:nvSpPr>
          <p:cNvPr id="14" name="page-number-4">
            <a:extLst xmlns:a="http://schemas.openxmlformats.org/drawingml/2006/main">
              <a:ext uri="{FF2B5EF4-FFF2-40B4-BE49-F238E27FC236}">
                <a16:creationId xmlns:a16="http://schemas.microsoft.com/office/drawing/2014/main" id="{346EBB32-8C88-41A0-ABA1-0D34C7C0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0EC410-ED49-4A3B-962C-F760E19141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a8e1039a254da1"/>
          <a:stretch xmlns:a="http://schemas.openxmlformats.org/drawingml/2006/main"/>
        </p:blipFill>
        <p:spPr>
          <a:xfrm xmlns:a="http://schemas.openxmlformats.org/drawingml/2006/main">
            <a:off x="1492724" y="2143125"/>
            <a:ext cx="8444552" cy="3143250"/>
          </a:xfrm>
          <a:prstGeom xmlns:a="http://schemas.openxmlformats.org/drawingml/2006/main" prst="rect">
            <a:avLst/>
          </a:prstGeom>
        </p:spPr>
      </p:pic>
      <p:sp>
        <p:nvSpPr>
          <p:cNvPr id="16" name="routh-label">
            <a:extLst xmlns:a="http://schemas.openxmlformats.org/drawingml/2006/main">
              <a:ext uri="{FF2B5EF4-FFF2-40B4-BE49-F238E27FC236}">
                <a16:creationId xmlns:a16="http://schemas.microsoft.com/office/drawing/2014/main" id="{591A535E-ED72-42BF-9B28-71BBC2D6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43125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劳斯表第一列</a:t>
            </a:r>
          </a:p>
        </p:txBody>
      </p:sp>
    </p:spTree>
    <p:extLst>
      <p:ext uri="{BB962C8B-B14F-4D97-AF65-F5344CB8AC3E}">
        <p14:creationId xmlns:p14="http://schemas.microsoft.com/office/powerpoint/2010/main" val="14781091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0B41CC25-ABFD-40D8-969C-942F00D1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实验四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EF5AC451-5D5B-452F-83DC-C6E1BE69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CDF79E-4C92-4FDF-9B6E-305E406B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MATLAB 稳定性验证入口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1C9E60EF-7B51-4404-B604-4EED0EDA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formula-panel">
            <a:extLst xmlns:a="http://schemas.openxmlformats.org/drawingml/2006/main">
              <a:ext uri="{FF2B5EF4-FFF2-40B4-BE49-F238E27FC236}">
                <a16:creationId xmlns:a16="http://schemas.microsoft.com/office/drawing/2014/main" id="{7E7D887B-83E0-4A27-B21D-BD8316C3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98107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E7E6E6"/>
            </a:solidFill>
            <a:prstDash val="solid"/>
          </a:ln>
        </p:spPr>
      </p:sp>
      <p:sp>
        <p:nvSpPr>
          <p:cNvPr id="6" name="formula">
            <a:extLst xmlns:a="http://schemas.openxmlformats.org/drawingml/2006/main">
              <a:ext uri="{FF2B5EF4-FFF2-40B4-BE49-F238E27FC236}">
                <a16:creationId xmlns:a16="http://schemas.microsoft.com/office/drawing/2014/main" id="{2D6B95FB-606B-49A3-83E6-5A751634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05050"/>
            <a:ext cx="9429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K = [1 5.9 6 8];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figure; hold on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for k = K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p = roots([1 3 2 k]);  disp(p)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T = tf(k,[1 3 2 k]);  step(T)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end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grid on</a:t>
            </a:r>
          </a:p>
        </p:txBody>
      </p:sp>
      <p:sp>
        <p:nvSpPr>
          <p:cNvPr id="7" name="arrow-0">
            <a:extLst xmlns:a="http://schemas.openxmlformats.org/drawingml/2006/main">
              <a:ext uri="{FF2B5EF4-FFF2-40B4-BE49-F238E27FC236}">
                <a16:creationId xmlns:a16="http://schemas.microsoft.com/office/drawing/2014/main" id="{090A79F3-B37F-4607-8593-E323580C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579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0">
            <a:extLst xmlns:a="http://schemas.openxmlformats.org/drawingml/2006/main">
              <a:ext uri="{FF2B5EF4-FFF2-40B4-BE49-F238E27FC236}">
                <a16:creationId xmlns:a16="http://schemas.microsoft.com/office/drawing/2014/main" id="{D59D8AC4-EF57-4E3D-9494-C64DD153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42937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记录每个K的闭环极点。</a:t>
            </a:r>
          </a:p>
        </p:txBody>
      </p:sp>
      <p:sp>
        <p:nvSpPr>
          <p:cNvPr id="9" name="arrow-1">
            <a:extLst xmlns:a="http://schemas.openxmlformats.org/drawingml/2006/main">
              <a:ext uri="{FF2B5EF4-FFF2-40B4-BE49-F238E27FC236}">
                <a16:creationId xmlns:a16="http://schemas.microsoft.com/office/drawing/2014/main" id="{8FC55AF8-6649-435F-971C-9BF080DA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04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6FF41B91-A8D9-4429-BC14-2D8A4F3D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9818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检查max(real(p))的符号。</a:t>
            </a:r>
          </a:p>
        </p:txBody>
      </p:sp>
      <p:sp>
        <p:nvSpPr>
          <p:cNvPr id="11" name="arrow-2">
            <a:extLst xmlns:a="http://schemas.openxmlformats.org/drawingml/2006/main">
              <a:ext uri="{FF2B5EF4-FFF2-40B4-BE49-F238E27FC236}">
                <a16:creationId xmlns:a16="http://schemas.microsoft.com/office/drawing/2014/main" id="{5A7EB87B-9723-4BF9-99DF-CCEF1DD0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628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2">
            <a:extLst xmlns:a="http://schemas.openxmlformats.org/drawingml/2006/main">
              <a:ext uri="{FF2B5EF4-FFF2-40B4-BE49-F238E27FC236}">
                <a16:creationId xmlns:a16="http://schemas.microsoft.com/office/drawing/2014/main" id="{8F8324C4-03C5-4322-AF68-B0DE37BC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53427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边界附近延长仿真时间。</a:t>
            </a:r>
          </a:p>
        </p:txBody>
      </p:sp>
      <p:sp>
        <p:nvSpPr>
          <p:cNvPr id="14" name="page-number-5">
            <a:extLst xmlns:a="http://schemas.openxmlformats.org/drawingml/2006/main">
              <a:ext uri="{FF2B5EF4-FFF2-40B4-BE49-F238E27FC236}">
                <a16:creationId xmlns:a16="http://schemas.microsoft.com/office/drawing/2014/main" id="{DF4A8FCE-BB1E-4CF8-BD5B-B80F245B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524227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3B74E2FF-84DC-4611-B761-566C06FD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实验四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0AB39AB2-ACBF-41C3-B985-25A9D4A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A1F85E-0F3C-4E05-B7AA-16D5F27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任务A：手工构造劳斯表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C34190-D959-41A6-9FB6-9353E01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D919466A-980C-4813-881B-F054B63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3A9ED995-35F7-4C5A-B43A-CB7AF22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写出q(s)并完成完整劳斯表。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909292C0-757A-4E69-B906-E7093DD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BAD81E8-D144-4E0D-8ED2-8A4E52B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由第一列符号推导K的范围。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4F16988B-1E5D-4351-A3D3-BF7D0992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BDC4783-6A63-4C4B-98A4-091AA8C9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区分K取0时的零传递函数与原点内部模态。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D9C4802A-4F33-4B76-82A3-04E07EC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EB5086A-91A6-4BDC-B463-B028D12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055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预测K=1、5.9、6、8的稳定类型。</a:t>
            </a:r>
          </a:p>
        </p:txBody>
      </p:sp>
      <p:sp>
        <p:nvSpPr>
          <p:cNvPr id="14" name="page-number-6">
            <a:extLst xmlns:a="http://schemas.openxmlformats.org/drawingml/2006/main">
              <a:ext uri="{FF2B5EF4-FFF2-40B4-BE49-F238E27FC236}">
                <a16:creationId xmlns:a16="http://schemas.microsoft.com/office/drawing/2014/main" id="{019669FE-B076-4129-9069-8F461D7D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872412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3B74E2FF-84DC-4611-B761-566C06FD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实验四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0AB39AB2-ACBF-41C3-B985-25A9D4A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A1F85E-0F3C-4E05-B7AA-16D5F27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任务B：极点与时域响应验证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C34190-D959-41A6-9FB6-9353E01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D919466A-980C-4813-881B-F054B63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3A9ED995-35F7-4C5A-B43A-CB7AF22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计算四组K的全部闭环极点。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909292C0-757A-4E69-B906-E7093DD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BAD81E8-D144-4E0D-8ED2-8A4E52B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在s平面绘制极点并标出虚轴。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4F16988B-1E5D-4351-A3D3-BF7D0992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BDC4783-6A63-4C4B-98A4-091AA8C9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叠加阶跃响应，比较收敛、持续振荡和发散。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D9C4802A-4F33-4B76-82A3-04E07EC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EB5086A-91A6-4BDC-B463-B028D12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055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核对右半平面根数与劳斯符号变化次数。</a:t>
            </a:r>
          </a:p>
        </p:txBody>
      </p:sp>
      <p:sp>
        <p:nvSpPr>
          <p:cNvPr id="14" name="page-number-7">
            <a:extLst xmlns:a="http://schemas.openxmlformats.org/drawingml/2006/main">
              <a:ext uri="{FF2B5EF4-FFF2-40B4-BE49-F238E27FC236}">
                <a16:creationId xmlns:a16="http://schemas.microsoft.com/office/drawing/2014/main" id="{909E9615-8CDA-4FD7-82EB-15500C05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872412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3B74E2FF-84DC-4611-B761-566C06FD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实验四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0AB39AB2-ACBF-41C3-B985-25A9D4A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A1F85E-0F3C-4E05-B7AA-16D5F27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任务C：数值搜索稳定边界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C34190-D959-41A6-9FB6-9353E01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D919466A-980C-4813-881B-F054B63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3A9ED995-35F7-4C5A-B43A-CB7AF22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令K从4到8按0.05步长扫描。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909292C0-757A-4E69-B906-E7093DD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BAD81E8-D144-4E0D-8ED2-8A4E52B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记录max(real(p))首次由负变正的位置。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4F16988B-1E5D-4351-A3D3-BF7D0992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BDC4783-6A63-4C4B-98A4-091AA8C9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缩小步长重复搜索并估计边界误差。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D9C4802A-4F33-4B76-82A3-04E07EC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EB5086A-91A6-4BDC-B463-B028D12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055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讨论浮点误差对临界稳定判断的影响。</a:t>
            </a:r>
          </a:p>
        </p:txBody>
      </p:sp>
      <p:sp>
        <p:nvSpPr>
          <p:cNvPr id="14" name="page-number-8">
            <a:extLst xmlns:a="http://schemas.openxmlformats.org/drawingml/2006/main">
              <a:ext uri="{FF2B5EF4-FFF2-40B4-BE49-F238E27FC236}">
                <a16:creationId xmlns:a16="http://schemas.microsoft.com/office/drawing/2014/main" id="{0F45ECE9-37AE-443B-840C-5CFBF0BB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872412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3B74E2FF-84DC-4611-B761-566C06FD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实验四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0AB39AB2-ACBF-41C3-B985-25A9D4A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A1F85E-0F3C-4E05-B7AA-16D5F27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结果必须同时展示理论与数值证据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C34190-D959-41A6-9FB6-9353E01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D919466A-980C-4813-881B-F054B63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3A9ED995-35F7-4C5A-B43A-CB7AF22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劳斯表及0&lt;K&lt;6的推导。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909292C0-757A-4E69-B906-E7093DD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BAD81E8-D144-4E0D-8ED2-8A4E52B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四组参数的极点位置与稳定类型。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4F16988B-1E5D-4351-A3D3-BF7D0992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BDC4783-6A63-4C4B-98A4-091AA8C9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稳定边界扫描曲线max(real(p))—K。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D9C4802A-4F33-4B76-82A3-04E07EC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EB5086A-91A6-4BDC-B463-B028D12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055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边界附近时域响应和误差解释。</a:t>
            </a:r>
          </a:p>
        </p:txBody>
      </p:sp>
      <p:sp>
        <p:nvSpPr>
          <p:cNvPr id="14" name="page-number-9">
            <a:extLst xmlns:a="http://schemas.openxmlformats.org/drawingml/2006/main">
              <a:ext uri="{FF2B5EF4-FFF2-40B4-BE49-F238E27FC236}">
                <a16:creationId xmlns:a16="http://schemas.microsoft.com/office/drawing/2014/main" id="{BD6C3998-9DC4-4207-A01D-C649C65C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872412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C72466BC-2F2E-433D-AA86-9F1C2493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实验四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42422796-8B11-44D8-B643-C00047F6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215088-12B4-4916-B54C-31113124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实验报告应包含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EA92DF72-C987-4486-8872-7ECFF02C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F98FEB63-BC0E-4785-AA3A-1FE16883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C3816F62-C744-469B-9A1B-324BA4D9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特征方程、劳斯表和稳定参数范围。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EF15B4B2-72E6-4AAF-A4DD-9D489D38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8DBF1A82-8881-43B8-AC4F-3A19175D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关键参数点的闭环极点。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D0EF406E-3B9B-4CCF-B19F-21283BC8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AC67FAB3-65E8-40F8-A38E-C1B2D48C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参数—极点轨迹及理论对照。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672BB070-3A0F-43B1-9D46-966528FB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47E79AFB-202E-4A09-882B-236ED98C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055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临界稳定的数值判断与结论。</a:t>
            </a:r>
          </a:p>
        </p:txBody>
      </p:sp>
      <p:sp>
        <p:nvSpPr>
          <p:cNvPr id="14" name="page-number-10">
            <a:extLst xmlns:a="http://schemas.openxmlformats.org/drawingml/2006/main">
              <a:ext uri="{FF2B5EF4-FFF2-40B4-BE49-F238E27FC236}">
                <a16:creationId xmlns:a16="http://schemas.microsoft.com/office/drawing/2014/main" id="{7A99FB0A-9D9C-4444-BC04-0330B95F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452809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3B74E2FF-84DC-4611-B761-566C06FD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实验四</a:t>
            </a:r>
          </a:p>
        </p:txBody>
      </p:sp>
      <p:sp>
        <p:nvSpPr>
          <p:cNvPr id="2" name="supplement">
            <a:extLst xmlns:a="http://schemas.openxmlformats.org/drawingml/2006/main">
              <a:ext uri="{FF2B5EF4-FFF2-40B4-BE49-F238E27FC236}">
                <a16:creationId xmlns:a16="http://schemas.microsoft.com/office/drawing/2014/main" id="{0AB39AB2-ACBF-41C3-B985-25A9D4A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A1F85E-0F3C-4E05-B7AA-16D5F27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离开实验室前检查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C34190-D959-41A6-9FB6-9353E01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D919466A-980C-4813-881B-F054B63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3A9ED995-35F7-4C5A-B43A-CB7AF22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系数同号为什么不是稳定的充分条件？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909292C0-757A-4E69-B906-E7093DD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BAD81E8-D144-4E0D-8ED2-8A4E52B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K=6时为何需要延长仿真时间观察？</a:t>
            </a:r>
          </a:p>
        </p:txBody>
      </p:sp>
      <p:sp>
        <p:nvSpPr>
          <p:cNvPr id="9" name="arrow-2">
            <a:extLst xmlns:a="http://schemas.openxmlformats.org/drawingml/2006/main">
              <a:ext uri="{FF2B5EF4-FFF2-40B4-BE49-F238E27FC236}">
                <a16:creationId xmlns:a16="http://schemas.microsoft.com/office/drawing/2014/main" id="{4F16988B-1E5D-4351-A3D3-BF7D0992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DBDC4783-6A63-4C4B-98A4-091AA8C9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劳斯判据和直接求根各有什么优势？</a:t>
            </a:r>
          </a:p>
        </p:txBody>
      </p:sp>
      <p:sp>
        <p:nvSpPr>
          <p:cNvPr id="11" name="arrow-3">
            <a:extLst xmlns:a="http://schemas.openxmlformats.org/drawingml/2006/main">
              <a:ext uri="{FF2B5EF4-FFF2-40B4-BE49-F238E27FC236}">
                <a16:creationId xmlns:a16="http://schemas.microsoft.com/office/drawing/2014/main" id="{D9C4802A-4F33-4B76-82A3-04E07EC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30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EB5086A-91A6-4BDC-B463-B028D12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055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提交计算过程、脚本、图形和结论。</a:t>
            </a:r>
          </a:p>
        </p:txBody>
      </p:sp>
      <p:sp>
        <p:nvSpPr>
          <p:cNvPr id="14" name="page-number-11">
            <a:extLst xmlns:a="http://schemas.openxmlformats.org/drawingml/2006/main">
              <a:ext uri="{FF2B5EF4-FFF2-40B4-BE49-F238E27FC236}">
                <a16:creationId xmlns:a16="http://schemas.microsoft.com/office/drawing/2014/main" id="{79F619FE-76E2-420D-BEE3-DB4D847A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872412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E09A472D-FA13-4887-9244-2BAFCE50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实验四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DB9188B-84D7-4161-9F65-AC2A2514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MATLAB 运行结果参考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E19AD3F-31E4-4514-8055-A50429EE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0F0C1-1505-458A-9B94-1CF96A1D6D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7ca41e512b4689"/>
          <a:stretch xmlns:a="http://schemas.openxmlformats.org/drawingml/2006/main"/>
        </p:blipFill>
        <p:spPr>
          <a:xfrm xmlns:a="http://schemas.openxmlformats.org/drawingml/2006/main">
            <a:off x="1077331" y="1952625"/>
            <a:ext cx="9275338" cy="5667375"/>
          </a:xfrm>
          <a:prstGeom xmlns:a="http://schemas.openxmlformats.org/drawingml/2006/main" prst="rect">
            <a:avLst/>
          </a:prstGeom>
        </p:spPr>
      </p:pic>
      <p:sp>
        <p:nvSpPr>
          <p:cNvPr id="5" name="caption">
            <a:extLst xmlns:a="http://schemas.openxmlformats.org/drawingml/2006/main">
              <a:ext uri="{FF2B5EF4-FFF2-40B4-BE49-F238E27FC236}">
                <a16:creationId xmlns:a16="http://schemas.microsoft.com/office/drawing/2014/main" id="{DAA2FB55-3F51-4BC8-8302-0F02F9C2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最大极点实部在增益6处越过零，与劳斯判据一致。</a:t>
            </a:r>
          </a:p>
        </p:txBody>
      </p:sp>
      <p:sp>
        <p:nvSpPr>
          <p:cNvPr id="6" name="page-number-12">
            <a:extLst xmlns:a="http://schemas.openxmlformats.org/drawingml/2006/main">
              <a:ext uri="{FF2B5EF4-FFF2-40B4-BE49-F238E27FC236}">
                <a16:creationId xmlns:a16="http://schemas.microsoft.com/office/drawing/2014/main" id="{3AD041C4-D764-44A0-99F3-052E2094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772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487999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2026-10-22T12:36:38.5290000Z</dcterms:created>
  <dcterms:modified xsi:type="dcterms:W3CDTF">2026-10-22T12:36:38.5290000Z</dcterms:modified>
</coreProperties>
</file>